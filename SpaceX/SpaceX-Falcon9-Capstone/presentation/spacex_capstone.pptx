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F00"/>
                </a:solidFill>
              </a:defRPr>
            </a:pPr>
            <a:r>
              <a:t>SPACEX FALCON 9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First Stage Landing Prediction</a:t>
            </a:r>
          </a:p>
          <a:p>
            <a:pPr>
              <a:defRPr sz="1800">
                <a:solidFill>
                  <a:srgbClr val="DCE2EB"/>
                </a:solidFill>
              </a:defRPr>
            </a:pPr>
            <a:r>
              <a:t>End-to-End Machine Learning, Geospatial &amp; SQL Analytics Capstone</a:t>
            </a:r>
          </a:p>
          <a:p>
            <a:br/>
            <a:pPr>
              <a:defRPr sz="1300">
                <a:solidFill>
                  <a:srgbClr val="FF6F00"/>
                </a:solidFill>
              </a:defRPr>
            </a:pPr>
            <a:r>
              <a:t>IBM Data Science Professional Certificate | Capstone Final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Core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A2F5A"/>
                </a:solidFill>
              </a:defRPr>
            </a:pPr>
            <a:r>
              <a:t>•  Problem Statement: </a:t>
            </a:r>
            <a:r>
              <a:rPr b="0">
                <a:solidFill>
                  <a:srgbClr val="282828"/>
                </a:solidFill>
              </a:rPr>
              <a:t>SpaceX advertises Falcon 9 launches at ~$62M, whereas competitor missions cost upwards of $165M. The core economic differentiator is the successful recovery and reuse of the first stage rocket booster.</a:t>
            </a:r>
          </a:p>
          <a:p>
            <a:pPr>
              <a:defRPr b="1" sz="1300">
                <a:solidFill>
                  <a:srgbClr val="1A2F5A"/>
                </a:solidFill>
              </a:defRPr>
            </a:pPr>
            <a:r>
              <a:t>•  Data Pipeline: </a:t>
            </a:r>
            <a:r>
              <a:rPr b="0">
                <a:solidFill>
                  <a:srgbClr val="282828"/>
                </a:solidFill>
              </a:rPr>
              <a:t>Collected 90 historical launches via SpaceX API v4 and web scraping; engineered binary target Class (66.7% success rate), handled missing values, and encoded 80 predictive features.</a:t>
            </a:r>
          </a:p>
          <a:p>
            <a:pPr>
              <a:defRPr b="1" sz="1300">
                <a:solidFill>
                  <a:srgbClr val="1A2F5A"/>
                </a:solidFill>
              </a:defRPr>
            </a:pPr>
            <a:r>
              <a:t>•  Exploratory Data Analysis: </a:t>
            </a:r>
            <a:r>
              <a:rPr b="0">
                <a:solidFill>
                  <a:srgbClr val="282828"/>
                </a:solidFill>
              </a:rPr>
              <a:t>Observed clear learning curve progression from 0% (2010-2012) to 80-90% success (2017-2020). KSC LC 39A achieved the highest success rate (77.3%), and light-to-medium LEO/ISS payloads yielded optimal recovery.</a:t>
            </a:r>
          </a:p>
          <a:p>
            <a:pPr>
              <a:defRPr b="1" sz="1300">
                <a:solidFill>
                  <a:srgbClr val="1A2F5A"/>
                </a:solidFill>
              </a:defRPr>
            </a:pPr>
            <a:r>
              <a:t>•  SQL &amp; Geographic Intelligence: </a:t>
            </a:r>
            <a:r>
              <a:rPr b="0">
                <a:solidFill>
                  <a:srgbClr val="282828"/>
                </a:solidFill>
              </a:rPr>
              <a:t>Constructed local SQLite database executing 12 business queries. Mapped launchpads and landing touchdown clusters with Folium; verified coastal buffer zones for public safety.</a:t>
            </a:r>
          </a:p>
          <a:p>
            <a:pPr>
              <a:defRPr b="1" sz="1300">
                <a:solidFill>
                  <a:srgbClr val="1A2F5A"/>
                </a:solidFill>
              </a:defRPr>
            </a:pPr>
            <a:r>
              <a:t>•  Machine Learning Models: </a:t>
            </a:r>
            <a:r>
              <a:rPr b="0">
                <a:solidFill>
                  <a:srgbClr val="282828"/>
                </a:solidFill>
              </a:rPr>
              <a:t>Evaluated Logistic Regression, SVM, Decision Tree, and KNN with 10-fold cross-validation. Best models achieved 83.3% test accuracy and 0.889 F1-score on held-out test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Business Problem &amp; Commercial Rocketry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1E1E"/>
                </a:solidFill>
              </a:defRPr>
            </a:pPr>
            <a:r>
              <a:t>▶  Traditional expendable rocket launches discard the entire booster into the ocean, costing ~$165M per flight.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▶  SpaceX Falcon 9 recovers its first-stage booster via Drone Ships (ASDS) or Ground Pads (RTLS), slashing launch costs to ~$62M.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▶  A commercial competitor attempting to bid on commercial satellite launches needs to predict whether SpaceX will successfully recover its booster for a specific mission profile.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▶  If recovery succeeds, SpaceX can reuse the core, enabling aggressive price discounting. If the booster is expended, competitor pricing becomes viable.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▶  Our Mission: Build an end-to-end data pipeline, SQL analytical warehouse, geospatial dashboard, and machine learning model to reliably predict first-stage landing outcomes.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Collection: SpaceX API &amp; Web Scraping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1E1E"/>
                </a:solidFill>
              </a:defRPr>
            </a:pPr>
            <a:r>
              <a:t>✔  SpaceX REST API v4: Extracted comprehensive launch records from https://api.spacexdata.com/v4/launches/past.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✔  Payload &amp; Core Unpacking: Extracted rocket IDs, payload masses, launch sites, booster serials, and landing attempts.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✔  Fault-Tolerant Fallback: Built automatic fallback to IBM's verified historical benchmark dataset (90 Falcon 9 missions) in case of rate limits.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✔  Wikipedia Web Scraping: Built BeautifulSoup scraper targeting historical Falcon 9 launch tables, successfully extracting 321 tabular flight records.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✔  Data Storage: Raw data cached locally in data/raw/ to ensure full offline reproducibility without repeated downloads.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Wrangling &amp; Target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E1E1E"/>
                </a:solidFill>
              </a:defRPr>
            </a:pPr>
            <a:r>
              <a:t>Missing Value Treatment: Identified missing values in PayloadMass (early test flights); imputed missing values using dataset mean (6,105 kg).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Target Variable (Class): Constructed binary target from raw Outcome categories: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 • Class = 1 (Successful Landing): True ASDS (41), True RTLS (14), True Ocean (5) -&gt; Total: 60 (66.7%)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    • Class = 0 (Failure / Expended): None None (19), False ASDS (6), False Ocean (2), None ASDS (2), False RTLS (1) -&gt; Total: 30 (33.3%)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Feature Engineering: Extracted launch Year from Date. Prepared one-hot encoded dataset (dataset_part_3.csv) with 80 numerical/dummy features for machine learning.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Exploratory Data Analysis: Key Hypotheses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1E1E"/>
                </a:solidFill>
              </a:defRPr>
            </a:pPr>
            <a:r>
              <a:t>★  Temporal Progression: Does booster landing success improve over time as SpaceX iterates on avionics and grid fin control?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★  Launch Site Efficacy: Do different launch complexes (CCAFS SLC 40, KSC LC 39A, VAFB SLC 4E) exhibit divergent success rates due to orbital launch azimuths?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★  Payload Thresholds: Does heavier payload mass impair landing success due to reduced fuel margins for boostback and entry burns?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★  Orbit Destination: Do deep orbits (GTO, GEO) show lower recovery rates than low-Earth orbits (LEO, ISS)?</a:t>
            </a:r>
            <a:br/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★  Feature Correlation: Which operational parameters (GridFins, Legs, ReusedCount, Block) correlate strongest with landing success?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EDA Results: Launch Cadence &amp; Success Learning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pic>
        <p:nvPicPr>
          <p:cNvPr id="7" name="Picture 6" descr="01_launche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606040"/>
          </a:xfrm>
          <a:prstGeom prst="rect">
            <a:avLst/>
          </a:prstGeom>
        </p:spPr>
      </p:pic>
      <p:pic>
        <p:nvPicPr>
          <p:cNvPr id="8" name="Picture 7" descr="09_yearly_succes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1B3D"/>
                </a:solidFill>
              </a:defRPr>
            </a:pPr>
            <a:r>
              <a:t>Key Empirical Takeaway: Launch volume expanded exponentially from 1-3 launches/year (2010-2013) to ~19 launches in 2020. Simultaneously, landing success rate rose from 0% initially to over 85% by 2020, evidencing steep technical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EDA Results: Orbit Profile &amp; Payload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pic>
        <p:nvPicPr>
          <p:cNvPr id="7" name="Picture 6" descr="06_success_rate_by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842953"/>
          </a:xfrm>
          <a:prstGeom prst="rect">
            <a:avLst/>
          </a:prstGeom>
        </p:spPr>
      </p:pic>
      <p:pic>
        <p:nvPicPr>
          <p:cNvPr id="8" name="Picture 7" descr="05_payload_mass_vs_launch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8429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1B3D"/>
                </a:solidFill>
              </a:defRPr>
            </a:pPr>
            <a:r>
              <a:t>Key Empirical Takeaway: ES-L1, GEO, HEO, and SSO achieved 100% landing success. GTO missions (~27 launches) exhibit mixed recovery due to high reentry velocity. Payloads between 2,000–6,000 kg show consistent recovery across all launch complexes.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SQL Analysis: Launch Sites &amp; Payload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E1E1E"/>
                </a:solidFill>
              </a:defRPr>
            </a:pPr>
            <a:r>
              <a:t>✔  Unique Launch Sites: CCAFS SLC 40 (55 launches), KSC LC 39A (22 launches), VAFB SLC 4E (13 launches).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✔  Total Payload Lifted: CCAFS SLC 40 delivered over 300,000 kg total payload mass, acting as SpaceX's primary workhorse.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✔  Launch Site Success Rate: KSC LC 39A achieved the highest success rate at 77.3%, followed by VAFB SLC 4E at 76.9%, and CCAFS SLC 40 at 60.0%.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✔  Payload Mass Range: Overall missions range from 350 kg to 15,600 kg, with an average payload mass of 6,105 kg across all flights.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✔  SQL Querying: Executed in SQLite using GROUP BY, SUM, AVG, and ORDER BY DESC clauses against data/spacex.db.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SQL Analysis: Landing Outcomes &amp; Milestone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E1E1E"/>
                </a:solidFill>
              </a:defRPr>
            </a:pPr>
            <a:r>
              <a:t>★  First Successful Ground Pad Landing (RTLS): Achieved on 2015-12-22 by Booster B1019 during Flight #19 at CCAFS SLC 40.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★  Drone Ship Success in 4,000-6,000 kg Window: Identified successful recoveries including B1022, B1026, and B1048.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★  Maximum Payload Carried: Identified multiple 15,600 kg Starlink deployment missions (B1048, B1049, B1051, B1056, B1058, B1060).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★  Ranked Outcome Distribution: True ASDS (41) &gt; None None (19) &gt; True RTLS (14) &gt; False ASDS (6) &gt; True Ocean (5).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★  Monthly Cadence in 2015: SpaceX accelerated experimental landings on drone ships and ocean water across 6 missions.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Geospatial Analysis: Interactive Folium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E1E1E"/>
                </a:solidFill>
              </a:defRPr>
            </a:pPr>
            <a:r>
              <a:t>📍  Coastal Positioning: All launchpads are located adjacent to open ocean (0.9 to 1.5 km to coastline), ensuring failed launches drop safely into the ocean without hazarding populated zones.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📍  Equatorial Advantage: Cape Canaveral (28.56°N) and Kennedy Space Center (28.57°N) leverage Earth's rotational velocity for easterly orbital launches.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📍  Polar Trajectories: Vandenberg Space Force Base (34.63°N, 120.61°W) launches southward over the Pacific Ocean into polar orbits (PO) and sun-synchronous orbits (SSO).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📍  Infrastructure Proximity: Sites sit within 1 to 2 km of rail lines and highways for heavy rocket stage transport, while maintaining a 10 to 30 km safety buffer from urban city centers.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📍  Interactive Artifact: Saved to visuals/folium/launch_sites_map.html with interactive MarkerClusters and MousePosition.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Dashboard: Plotly Dash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pic>
        <p:nvPicPr>
          <p:cNvPr id="7" name="Picture 6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6849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28016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1E1E1E"/>
                </a:solidFill>
              </a:defRPr>
            </a:pPr>
            <a:r>
              <a:t>• Real-Time Reactivity: Dropdown for launch complex selection, range slider for payload (0-16,000 kg), and outcome filter radio.</a:t>
            </a:r>
            <a:br/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• Real-Time KPIs: Dynamically calculates selected missions, success percentage, successful recoveries, and mean payload.</a:t>
            </a:r>
            <a:br/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• Reactive Charts: Updates donut distribution, payload vs flight sequence scatter, and stacked yearly volume bars.</a:t>
            </a:r>
            <a:br/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• Architecture: Modular Dash callbacks connecting inputs to Plotly Express figures.</a:t>
            </a:r>
            <a:br/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• Execution: Run via python dashboard/app.py on localhost:8050.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Machine Learning Methodology &amp; Leakage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E1E1E"/>
                </a:solidFill>
              </a:defRPr>
            </a:pPr>
            <a:r>
              <a:t>⚙  Feature Matrix: 80 independent features including FlightNumber, PayloadMass, Flights, GridFins, Reused, Legs, Block, and one-hot encoded categories (Orbit, LaunchSite, LandingPad, Serial).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⚙  Data Leakage Prevention: Train/Test split (80/20, seed=42) conducted before any feature scaling; StandardScaler fitted strictly on training data.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⚙  Stratified Cross-Validation: 10-Fold StratifiedKFold cross-validation utilized inside GridSearchCV to preserve class balance across all folds.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⚙  Algorithms Compared: Logistic Regression (L2 penalty), Support Vector Machine (linear, RBF, sigmoid), Decision Tree (depth/splits tuned), and K-Nearest Neighbors (distance metric &amp; neighbors tuned).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⚙  Evaluation Metrics: Evaluated accuracy, precision, recall, F1-score, ROC-AUC, and confusion matrices on held-out test data (N=18).</a:t>
            </a:r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Evaluation &amp; 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127248"/>
          </a:xfrm>
          <a:prstGeom prst="rect">
            <a:avLst/>
          </a:prstGeom>
        </p:spPr>
      </p:pic>
      <p:pic>
        <p:nvPicPr>
          <p:cNvPr id="8" name="Picture 7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4135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B3D"/>
                </a:solidFill>
              </a:defRPr>
            </a:pPr>
            <a:r>
              <a:t>Key Modeling Takeaway: K-Nearest Neighbors &amp; Logistic Regression achieved 83.3% test accuracy and 0.889 F1-score on held-out data. Both correctly identified 11/12 successful landings and 4/6 failed landings, outperforming baseline models.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Conclusions, Economic Innovation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E1E1E"/>
                </a:solidFill>
              </a:defRPr>
            </a:pPr>
            <a:r>
              <a:t>🚀  Commercial Viability: SpaceX's 66.7% overall recovery rate (climbing to &gt;85% in modern Block 5 boosters) provides an insurmountable cost advantage for standard commercial orbital delivery.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🚀  Predictive Reliability: Machine learning pipelines accurately forecast booster recovery based on payload mass, orbit profile, and booster flight history.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🚀  Competitor Bidding Strategy: When SpaceX launches heavy payloads into high GTO orbits, booster recovery margins shrink, presenting windows for competitor bids.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🚀  Innovative Enhancement: Integrated geospatial distance metrics with operational telemetry to quantify how coastal proximity safeguards recovery routes.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🚀  Future Roadmap: Integrate real-time weather/ocean sea-state telemetry (wave heights at drone ship coordinates) and thermal reentry telemetry to further boost prediction precision.</a:t>
            </a:r>
            <a:b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F00"/>
                </a:solidFill>
              </a:defRPr>
            </a:pPr>
            <a:r>
              <a:t>IBM DATA SCIENCE PROFESSIONAL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References, Project Artifacts &amp; Submission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2EB"/>
                </a:solidFill>
              </a:defRPr>
            </a:pPr>
            <a:r>
              <a:t>SpaceX Falcon 9 First Stage Landing Prediction | IBM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E1E1E"/>
                </a:solidFill>
              </a:defRPr>
            </a:pPr>
            <a:r>
              <a:t>📚  IBM Data Science Professional Certificate: Applied Data Science Capstone (Course 10).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📚  SpaceX Public REST API: https://api.spacexdata.com/v4/launches/past.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📚  Wikipedia Falcon 9 &amp; Falcon Heavy Launch History: https://en.wikipedia.org/wiki/List_of_Falcon_9_and_Falcon_Heavy_launches.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📚  Project Repository Structure: Complete source code, notebooks, SQL scripts, interactive map, Dash app, and documentation organized under clean workspace directories.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📚  GitHub Repository URL: [Submission Placeholder: Replace with student GitHub repo link]</a:t>
            </a:r>
            <a:br/>
          </a:p>
          <a:p>
            <a:pPr>
              <a:defRPr sz="1300">
                <a:solidFill>
                  <a:srgbClr val="1E1E1E"/>
                </a:solidFill>
              </a:defRPr>
            </a:pPr>
            <a:r>
              <a:t>📚  Report Author: Student Capstone Submission | Verified End-to-End Pipeline.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