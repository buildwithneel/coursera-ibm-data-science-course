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09728" cy="46634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05840"/>
            <a:ext cx="10058400" cy="4846320"/>
          </a:xfrm>
          <a:prstGeom prst="rect">
            <a:avLst/>
          </a:prstGeom>
          <a:noFill/>
        </p:spPr>
        <p:txBody>
          <a:bodyPr wrap="square">
            <a:spAutoFit/>
          </a:bodyPr>
          <a:lstStyle/>
          <a:p>
            <a:pPr>
              <a:defRPr sz="1200" b="1">
                <a:solidFill>
                  <a:srgbClr val="FF6F00"/>
                </a:solidFill>
              </a:defRPr>
            </a:pPr>
            <a:r>
              <a:t>IBM DATA SCIENCE PROFESSIONAL CERTIFICATE | CAPSTONE FINAL PRESENTATION</a:t>
            </a:r>
          </a:p>
          <a:p>
            <a:pPr>
              <a:defRPr sz="2800" b="1">
                <a:solidFill>
                  <a:srgbClr val="FF6F00"/>
                </a:solidFill>
              </a:defRPr>
            </a:pPr>
            <a:r>
              <a:t>SPACEX FALCON 9</a:t>
            </a:r>
          </a:p>
          <a:p>
            <a:pPr>
              <a:defRPr sz="4000" b="1">
                <a:solidFill>
                  <a:srgbClr val="FFFFFF"/>
                </a:solidFill>
              </a:defRPr>
            </a:pPr>
            <a:r>
              <a:t>First Stage Landing Prediction</a:t>
            </a:r>
          </a:p>
          <a:p>
            <a:pPr>
              <a:defRPr sz="1700">
                <a:solidFill>
                  <a:srgbClr val="DCE2EB"/>
                </a:solidFill>
              </a:defRPr>
            </a:pPr>
            <a:r>
              <a:t>End-to-End Machine Learning, Geospatial &amp; SQL Analytics Capstone</a:t>
            </a:r>
          </a:p>
          <a:p>
            <a:br/>
            <a:pPr>
              <a:defRPr sz="1300" b="1">
                <a:solidFill>
                  <a:srgbClr val="64C8FF"/>
                </a:solidFill>
              </a:defRPr>
            </a:pPr>
            <a:r>
              <a:t>✔ Verified GitHub Repository URL (All Completed Notebooks &amp; Python Code):</a:t>
            </a:r>
            <a:br/>
            <a:r>
              <a:t>https://github.com/buildwithneel/Coursera-IBM-data-science-course</a:t>
            </a:r>
          </a:p>
          <a:p>
            <a:pPr>
              <a:defRPr sz="1050">
                <a:solidFill>
                  <a:srgbClr val="DCE2EB"/>
                </a:solidFill>
              </a:defRPr>
            </a:pPr>
            <a:r>
              <a:t>Author: Student Capstone Submission | Evaluation Submission Format: PDF (.pdf) &amp; PPTX (.pptx)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Executive Summary &amp; Core Project Findings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https://github.com/buildwithneel/Coursera-IBM-data-science-course</a:t>
            </a:r>
          </a:p>
        </p:txBody>
      </p:sp>
      <p:sp>
        <p:nvSpPr>
          <p:cNvPr id="8" name="Rounded Rectangle 7"/>
          <p:cNvSpPr/>
          <p:nvPr/>
        </p:nvSpPr>
        <p:spPr>
          <a:xfrm>
            <a:off x="7315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25880"/>
            <a:ext cx="4937760" cy="4846320"/>
          </a:xfrm>
          <a:prstGeom prst="rect">
            <a:avLst/>
          </a:prstGeom>
          <a:noFill/>
        </p:spPr>
        <p:txBody>
          <a:bodyPr wrap="square">
            <a:spAutoFit/>
          </a:bodyPr>
          <a:lstStyle/>
          <a:p>
            <a:pPr>
              <a:defRPr sz="1300" b="1">
                <a:solidFill>
                  <a:srgbClr val="0B1B3D"/>
                </a:solidFill>
              </a:defRPr>
            </a:pPr>
            <a:r>
              <a:t>Project Objectives &amp; Economic Impact</a:t>
            </a:r>
          </a:p>
          <a:p>
            <a:pPr>
              <a:defRPr b="1" sz="1100">
                <a:solidFill>
                  <a:srgbClr val="1A2F5A"/>
                </a:solidFill>
              </a:defRPr>
            </a:pPr>
            <a:r>
              <a:t>•  Commercial Problem: </a:t>
            </a:r>
            <a:r>
              <a:rPr b="0">
                <a:solidFill>
                  <a:srgbClr val="232323"/>
                </a:solidFill>
              </a:rPr>
              <a:t>SpaceX advertises Falcon 9 launches at ~$62M, whereas competitor missions cost upwards of $165M. The $103M economic savings is driven entirely by recovering and reusing the first-stage booster.</a:t>
            </a:r>
          </a:p>
          <a:p>
            <a:pPr>
              <a:defRPr b="1" sz="1100">
                <a:solidFill>
                  <a:srgbClr val="1A2F5A"/>
                </a:solidFill>
              </a:defRPr>
            </a:pPr>
            <a:r>
              <a:t>•  Commercial Bidding Window: </a:t>
            </a:r>
            <a:r>
              <a:rPr b="0">
                <a:solidFill>
                  <a:srgbClr val="232323"/>
                </a:solidFill>
              </a:rPr>
              <a:t>If an alternative launch provider or satellite client knows booster recovery feasibility in advance, they can determine SpaceX pricing discounts and formulate competitive bids.</a:t>
            </a:r>
          </a:p>
          <a:p>
            <a:pPr>
              <a:defRPr b="1" sz="1100">
                <a:solidFill>
                  <a:srgbClr val="1A2F5A"/>
                </a:solidFill>
              </a:defRPr>
            </a:pPr>
            <a:r>
              <a:t>•  Target Construction: </a:t>
            </a:r>
            <a:r>
              <a:rPr b="0">
                <a:solidFill>
                  <a:srgbClr val="232323"/>
                </a:solidFill>
              </a:rPr>
              <a:t>Analyzed 90 historical launches. Created binary target Class (1 = Successful Landing, 0 = Failure/Expended). Baseline landing success rate is 66.7% (60 successes, 30 failures).</a:t>
            </a:r>
          </a:p>
        </p:txBody>
      </p:sp>
      <p:sp>
        <p:nvSpPr>
          <p:cNvPr id="10" name="Rounded Rectangle 9"/>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37760" cy="4846320"/>
          </a:xfrm>
          <a:prstGeom prst="rect">
            <a:avLst/>
          </a:prstGeom>
          <a:noFill/>
        </p:spPr>
        <p:txBody>
          <a:bodyPr wrap="square">
            <a:spAutoFit/>
          </a:bodyPr>
          <a:lstStyle/>
          <a:p>
            <a:pPr>
              <a:defRPr sz="1300" b="1">
                <a:solidFill>
                  <a:srgbClr val="0B1B3D"/>
                </a:solidFill>
              </a:defRPr>
            </a:pPr>
            <a:r>
              <a:t>Methodological Framework &amp; Empirical Results</a:t>
            </a:r>
          </a:p>
          <a:p>
            <a:pPr>
              <a:defRPr b="1" sz="1100">
                <a:solidFill>
                  <a:srgbClr val="2E7D32"/>
                </a:solidFill>
              </a:defRPr>
            </a:pPr>
            <a:r>
              <a:t>✔  Data Pipeline: </a:t>
            </a:r>
            <a:r>
              <a:rPr b="0">
                <a:solidFill>
                  <a:srgbClr val="232323"/>
                </a:solidFill>
              </a:rPr>
              <a:t>REST API v4 &amp; Wikipedia scraping; handled missing payload via mean imputation (6,105 kg); engineered 80 features.</a:t>
            </a:r>
          </a:p>
          <a:p>
            <a:pPr>
              <a:defRPr b="1" sz="1100">
                <a:solidFill>
                  <a:srgbClr val="2E7D32"/>
                </a:solidFill>
              </a:defRPr>
            </a:pPr>
            <a:r>
              <a:t>✔  EDA &amp; SQL Analytics: </a:t>
            </a:r>
            <a:r>
              <a:rPr b="0">
                <a:solidFill>
                  <a:srgbClr val="232323"/>
                </a:solidFill>
              </a:rPr>
              <a:t>Demonstrated clear operational learning curve from 0% (2010) to 84.2% (2020). Executed 12 SQL queries in SQLite covering site volume, milestone dates, and outcome rankings.</a:t>
            </a:r>
          </a:p>
          <a:p>
            <a:pPr>
              <a:defRPr b="1" sz="1100">
                <a:solidFill>
                  <a:srgbClr val="2E7D32"/>
                </a:solidFill>
              </a:defRPr>
            </a:pPr>
            <a:r>
              <a:t>✔  Geospatial &amp; Dash: </a:t>
            </a:r>
            <a:r>
              <a:rPr b="0">
                <a:solidFill>
                  <a:srgbClr val="232323"/>
                </a:solidFill>
              </a:rPr>
              <a:t>Mapped coastal buffers (&lt;1.5 km to sea) via Folium. Built reactive Plotly Dash interactive dashboard.</a:t>
            </a:r>
          </a:p>
          <a:p>
            <a:pPr>
              <a:defRPr b="1" sz="1100">
                <a:solidFill>
                  <a:srgbClr val="2E7D32"/>
                </a:solidFill>
              </a:defRPr>
            </a:pPr>
            <a:r>
              <a:t>✔  Supervised ML Winner: </a:t>
            </a:r>
            <a:r>
              <a:rPr b="0">
                <a:solidFill>
                  <a:srgbClr val="232323"/>
                </a:solidFill>
              </a:rPr>
              <a:t>Evaluated Logistic Regression, SVM, Decision Tree, and KNN with 10-fold CV. Best models: Tuned KNN &amp; Logistic Regression achieved 83.33% Test Accuracy and 0.889 F1-score.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Introduction: Commercial Rocketry Economics &amp; Bidding</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https://github.com/buildwithneel/Coursera-IBM-data-science-course</a:t>
            </a:r>
          </a:p>
        </p:txBody>
      </p:sp>
      <p:sp>
        <p:nvSpPr>
          <p:cNvPr id="8" name="Rounded Rectangle 7"/>
          <p:cNvSpPr/>
          <p:nvPr/>
        </p:nvSpPr>
        <p:spPr>
          <a:xfrm>
            <a:off x="731520" y="1234440"/>
            <a:ext cx="106984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10332720" cy="4754880"/>
          </a:xfrm>
          <a:prstGeom prst="rect">
            <a:avLst/>
          </a:prstGeom>
          <a:noFill/>
        </p:spPr>
        <p:txBody>
          <a:bodyPr wrap="square">
            <a:spAutoFit/>
          </a:bodyPr>
          <a:lstStyle/>
          <a:p>
            <a:pPr>
              <a:defRPr sz="1400" b="1">
                <a:solidFill>
                  <a:srgbClr val="0B1B3D"/>
                </a:solidFill>
              </a:defRPr>
            </a:pPr>
            <a:r>
              <a:t>The Strategic Imperative of First-Stage Booster Reusability</a:t>
            </a:r>
          </a:p>
          <a:p>
            <a:pPr>
              <a:defRPr b="1" sz="1150">
                <a:solidFill>
                  <a:srgbClr val="1A2F5A"/>
                </a:solidFill>
              </a:defRPr>
            </a:pPr>
            <a:r>
              <a:t>▶  Expendable vs Reusable Paradigm: </a:t>
            </a:r>
            <a:r>
              <a:rPr b="0">
                <a:solidFill>
                  <a:srgbClr val="232323"/>
                </a:solidFill>
              </a:rPr>
              <a:t>Historically, orbital rocket launches were 100% expendable. The entire rocket was discarded into the Atlantic or Pacific ocean after a single flight, resulting in exorbitant launch costs exceeding $165M per flight.</a:t>
            </a:r>
          </a:p>
          <a:p>
            <a:pPr>
              <a:defRPr b="1" sz="1150">
                <a:solidFill>
                  <a:srgbClr val="1A2F5A"/>
                </a:solidFill>
              </a:defRPr>
            </a:pPr>
            <a:r>
              <a:t>▶  Booster Cost Composition: </a:t>
            </a:r>
            <a:r>
              <a:rPr b="0">
                <a:solidFill>
                  <a:srgbClr val="232323"/>
                </a:solidFill>
              </a:rPr>
              <a:t>The Falcon 9 first-stage booster contains 9 Merlin 1D rocket engines, high-grade aerospace aluminium-lithium alloy tanks, avionics, and titanium grid fins, representing approximately 70% of total rocket manufacturing cost ($30M - $40M).</a:t>
            </a:r>
          </a:p>
          <a:p>
            <a:pPr>
              <a:defRPr b="1" sz="1150">
                <a:solidFill>
                  <a:srgbClr val="1A2F5A"/>
                </a:solidFill>
              </a:defRPr>
            </a:pPr>
            <a:r>
              <a:t>▶  Commercial Pricing Disruption: </a:t>
            </a:r>
            <a:r>
              <a:rPr b="0">
                <a:solidFill>
                  <a:srgbClr val="232323"/>
                </a:solidFill>
              </a:rPr>
              <a:t>By successfully recovering the first-stage core via Autonomous Spaceport Drone Ships (ASDS) or Return-To-Launch-Site ground pads (RTLS), SpaceX reuses boosters up to 10+ times, offering standard commercial launches at ~$62M.</a:t>
            </a:r>
          </a:p>
          <a:p>
            <a:pPr>
              <a:defRPr b="1" sz="1150">
                <a:solidFill>
                  <a:srgbClr val="1A2F5A"/>
                </a:solidFill>
              </a:defRPr>
            </a:pPr>
            <a:r>
              <a:t>▶  Competitor Decision Support: </a:t>
            </a:r>
            <a:r>
              <a:rPr b="0">
                <a:solidFill>
                  <a:srgbClr val="232323"/>
                </a:solidFill>
              </a:rPr>
              <a:t>When satellite operators or launch service competitors (e.g., Arianespace, ULA, Rocket Lab) bid for launch contracts, anticipating whether SpaceX will recover the booster allows them to predict SpaceX's pricing margin and bid competitively.</a:t>
            </a:r>
          </a:p>
          <a:p>
            <a:pPr>
              <a:defRPr b="1" sz="1150">
                <a:solidFill>
                  <a:srgbClr val="1A2F5A"/>
                </a:solidFill>
              </a:defRPr>
            </a:pPr>
            <a:r>
              <a:t>▶  Project Mission &amp; Deliverables: </a:t>
            </a:r>
            <a:r>
              <a:rPr b="0">
                <a:solidFill>
                  <a:srgbClr val="232323"/>
                </a:solidFill>
              </a:rPr>
              <a:t>This project constructs a full-stack data science pipeline: API data collection, BeautifulSoup web scraping, SQLite data warehousing, Folium geospatial analytics, Plotly Dash dashboard, and machine learning classifiers to predict landing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Project Architecture &amp; End-to-End Technical Pipeline</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https://github.com/buildwithneel/Coursera-IBM-data-science-course/blob/main/docs/project_architecture.md</a:t>
            </a:r>
          </a:p>
        </p:txBody>
      </p:sp>
      <p:pic>
        <p:nvPicPr>
          <p:cNvPr id="8" name="Picture 7" descr="architecture.png"/>
          <p:cNvPicPr>
            <a:picLocks noChangeAspect="1"/>
          </p:cNvPicPr>
          <p:nvPr/>
        </p:nvPicPr>
        <p:blipFill>
          <a:blip r:embed="rId2"/>
          <a:stretch>
            <a:fillRect/>
          </a:stretch>
        </p:blipFill>
        <p:spPr>
          <a:xfrm>
            <a:off x="731520" y="1234440"/>
            <a:ext cx="10698480" cy="5310756"/>
          </a:xfrm>
          <a:prstGeom prst="rect">
            <a:avLst/>
          </a:prstGeom>
        </p:spPr>
      </p:pic>
      <p:sp>
        <p:nvSpPr>
          <p:cNvPr id="9" name="Rounded Rectangle 8"/>
          <p:cNvSpPr/>
          <p:nvPr/>
        </p:nvSpPr>
        <p:spPr>
          <a:xfrm>
            <a:off x="731520" y="5120640"/>
            <a:ext cx="10698480" cy="123444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166360"/>
            <a:ext cx="10424160" cy="1097280"/>
          </a:xfrm>
          <a:prstGeom prst="rect">
            <a:avLst/>
          </a:prstGeom>
          <a:noFill/>
        </p:spPr>
        <p:txBody>
          <a:bodyPr wrap="square">
            <a:spAutoFit/>
          </a:bodyPr>
          <a:lstStyle/>
          <a:p>
            <a:pPr>
              <a:defRPr sz="1100" b="1">
                <a:solidFill>
                  <a:srgbClr val="0B1B3D"/>
                </a:solidFill>
              </a:defRPr>
            </a:pPr>
            <a:r>
              <a:t>5-Tier Modular Data Architecture &amp; Reproducibility Guarantees</a:t>
            </a:r>
          </a:p>
          <a:p>
            <a:pPr>
              <a:defRPr sz="950">
                <a:solidFill>
                  <a:srgbClr val="232323"/>
                </a:solidFill>
              </a:defRPr>
            </a:pPr>
            <a:r>
              <a:t>• Ingestion -&gt; Wrangling -&gt; Analytics -&gt; ML Modeling -&gt; Multi-Format Deliverables (PPTX, PDF, Dashboard).</a:t>
            </a:r>
          </a:p>
          <a:p>
            <a:pPr>
              <a:defRPr sz="950">
                <a:solidFill>
                  <a:srgbClr val="232323"/>
                </a:solidFill>
              </a:defRPr>
            </a:pPr>
            <a:r>
              <a:t>• Strict Leakage Prevention: StandardScaler fitted strictly on 80% train split (N=72); test partition (N=18) kept isolated.</a:t>
            </a:r>
          </a:p>
          <a:p>
            <a:pPr>
              <a:defRPr sz="950">
                <a:solidFill>
                  <a:srgbClr val="232323"/>
                </a:solidFill>
              </a:defRPr>
            </a:pPr>
            <a:r>
              <a:t>• Offline Reproducibility: Cached raw data in data/raw/, processed datasets in data/processed/, and SQLite spacex.db.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Data Collection: SpaceX REST API v4 &amp; Web Scraping</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notebooks/01_data_collection_api.ipynb</a:t>
            </a:r>
          </a:p>
        </p:txBody>
      </p:sp>
      <p:sp>
        <p:nvSpPr>
          <p:cNvPr id="8" name="Rounded Rectangle 7"/>
          <p:cNvSpPr/>
          <p:nvPr/>
        </p:nvSpPr>
        <p:spPr>
          <a:xfrm>
            <a:off x="731520" y="1188720"/>
            <a:ext cx="52120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5029200" cy="310896"/>
          </a:xfrm>
          <a:prstGeom prst="rect">
            <a:avLst/>
          </a:prstGeom>
          <a:noFill/>
        </p:spPr>
        <p:txBody>
          <a:bodyPr wrap="square">
            <a:spAutoFit/>
          </a:bodyPr>
          <a:lstStyle/>
          <a:p>
            <a:pPr>
              <a:defRPr sz="950" b="1">
                <a:solidFill>
                  <a:srgbClr val="0E7490"/>
                </a:solidFill>
              </a:defRPr>
            </a:pPr>
            <a:r>
              <a:t>🔗 Lab 1 Notebook: </a:t>
            </a:r>
            <a:r>
              <a:rPr b="0" sz="850">
                <a:solidFill>
                  <a:srgbClr val="0B1B3D"/>
                </a:solidFill>
              </a:rPr>
              <a:t>https://github.com/buildwithneel/Coursera-IBM-data-science-course/blob/main/notebooks/01_data_collection_api.ipynb</a:t>
            </a:r>
          </a:p>
        </p:txBody>
      </p:sp>
      <p:sp>
        <p:nvSpPr>
          <p:cNvPr id="10" name="Rounded Rectangle 9"/>
          <p:cNvSpPr/>
          <p:nvPr/>
        </p:nvSpPr>
        <p:spPr>
          <a:xfrm>
            <a:off x="6217920" y="1188720"/>
            <a:ext cx="52120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25296"/>
            <a:ext cx="5029200" cy="310896"/>
          </a:xfrm>
          <a:prstGeom prst="rect">
            <a:avLst/>
          </a:prstGeom>
          <a:noFill/>
        </p:spPr>
        <p:txBody>
          <a:bodyPr wrap="square">
            <a:spAutoFit/>
          </a:bodyPr>
          <a:lstStyle/>
          <a:p>
            <a:pPr>
              <a:defRPr sz="950" b="1">
                <a:solidFill>
                  <a:srgbClr val="0E7490"/>
                </a:solidFill>
              </a:defRPr>
            </a:pPr>
            <a:r>
              <a:t>🔗 Lab 2 Notebook: </a:t>
            </a:r>
            <a:r>
              <a:rPr b="0" sz="850">
                <a:solidFill>
                  <a:srgbClr val="0B1B3D"/>
                </a:solidFill>
              </a:rPr>
              <a:t>https://github.com/buildwithneel/Coursera-IBM-data-science-course/blob/main/notebooks/02_web_scraping.ipynb</a:t>
            </a:r>
          </a:p>
        </p:txBody>
      </p:sp>
      <p:sp>
        <p:nvSpPr>
          <p:cNvPr id="12" name="Rounded Rectangle 11"/>
          <p:cNvSpPr/>
          <p:nvPr/>
        </p:nvSpPr>
        <p:spPr>
          <a:xfrm>
            <a:off x="7315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719072"/>
            <a:ext cx="4937760" cy="4434840"/>
          </a:xfrm>
          <a:prstGeom prst="rect">
            <a:avLst/>
          </a:prstGeom>
          <a:noFill/>
        </p:spPr>
        <p:txBody>
          <a:bodyPr wrap="square">
            <a:spAutoFit/>
          </a:bodyPr>
          <a:lstStyle/>
          <a:p>
            <a:pPr>
              <a:defRPr sz="1300" b="1">
                <a:solidFill>
                  <a:srgbClr val="0B1B3D"/>
                </a:solidFill>
              </a:defRPr>
            </a:pPr>
            <a:r>
              <a:t>1. SpaceX REST API v4 Integration (Lab 1)</a:t>
            </a:r>
          </a:p>
          <a:p>
            <a:pPr>
              <a:defRPr b="1" sz="1000">
                <a:solidFill>
                  <a:srgbClr val="1A2F5A"/>
                </a:solidFill>
              </a:defRPr>
            </a:pPr>
            <a:r>
              <a:t>• API Endpoint: </a:t>
            </a:r>
            <a:r>
              <a:rPr b="0" sz="900">
                <a:solidFill>
                  <a:srgbClr val="232323"/>
                </a:solidFill>
              </a:rPr>
              <a:t>Queried past launches endpoint: https://api.spacexdata.com/v4/launches/past.</a:t>
            </a:r>
          </a:p>
          <a:p>
            <a:pPr>
              <a:defRPr b="1" sz="1000">
                <a:solidFill>
                  <a:srgbClr val="1A2F5A"/>
                </a:solidFill>
              </a:defRPr>
            </a:pPr>
            <a:r>
              <a:t>• Nested Entity Unpacking: </a:t>
            </a:r>
            <a:r>
              <a:rPr b="0" sz="900">
                <a:solidFill>
                  <a:srgbClr val="232323"/>
                </a:solidFill>
              </a:rPr>
              <a:t>Extracted launch records and unpacked nested JSON objects: rocket IDs, payload masses, launch complexes, core serial numbers, flight reuse count, and landing attempt flags.</a:t>
            </a:r>
          </a:p>
          <a:p>
            <a:pPr>
              <a:defRPr b="1" sz="1000">
                <a:solidFill>
                  <a:srgbClr val="1A2F5A"/>
                </a:solidFill>
              </a:defRPr>
            </a:pPr>
            <a:r>
              <a:t>• Falcon 9 Filtering: </a:t>
            </a:r>
            <a:r>
              <a:rPr b="0" sz="900">
                <a:solidFill>
                  <a:srgbClr val="232323"/>
                </a:solidFill>
              </a:rPr>
              <a:t>Filtered dataset specifically for Falcon 9 vehicles, removing Falcon 1 test flights and Falcon Heavy configurations to maintain booster consistency.</a:t>
            </a:r>
          </a:p>
          <a:p>
            <a:pPr>
              <a:defRPr b="1" sz="1000">
                <a:solidFill>
                  <a:srgbClr val="1A2F5A"/>
                </a:solidFill>
              </a:defRPr>
            </a:pPr>
            <a:r>
              <a:t>• Fault-Tolerant Caching: </a:t>
            </a:r>
            <a:r>
              <a:rPr b="0" sz="900">
                <a:solidFill>
                  <a:srgbClr val="232323"/>
                </a:solidFill>
              </a:rPr>
              <a:t>Built automated local caching in data/raw/dataset_part_1.csv with fail-safe fallback to IBM's historical benchmark repository (90 flights).</a:t>
            </a:r>
          </a:p>
          <a:p>
            <a:pPr>
              <a:defRPr b="1" sz="1000">
                <a:solidFill>
                  <a:srgbClr val="1A2F5A"/>
                </a:solidFill>
              </a:defRPr>
            </a:pPr>
            <a:r>
              <a:t>• Source Code &amp; Lab: </a:t>
            </a:r>
            <a:r>
              <a:rPr b="0" sz="900">
                <a:solidFill>
                  <a:srgbClr val="232323"/>
                </a:solidFill>
              </a:rPr>
              <a:t>Completed in notebooks/01_data_collection_api.ipynb and src/data_collection.py.</a:t>
            </a:r>
          </a:p>
        </p:txBody>
      </p:sp>
      <p:sp>
        <p:nvSpPr>
          <p:cNvPr id="14" name="Rounded Rectangle 13"/>
          <p:cNvSpPr/>
          <p:nvPr/>
        </p:nvSpPr>
        <p:spPr>
          <a:xfrm>
            <a:off x="62179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719072"/>
            <a:ext cx="4937760" cy="4434840"/>
          </a:xfrm>
          <a:prstGeom prst="rect">
            <a:avLst/>
          </a:prstGeom>
          <a:noFill/>
        </p:spPr>
        <p:txBody>
          <a:bodyPr wrap="square">
            <a:spAutoFit/>
          </a:bodyPr>
          <a:lstStyle/>
          <a:p>
            <a:pPr>
              <a:defRPr sz="1300" b="1">
                <a:solidFill>
                  <a:srgbClr val="0B1B3D"/>
                </a:solidFill>
              </a:defRPr>
            </a:pPr>
            <a:r>
              <a:t>2. Wikipedia HTML Web Scraping (Lab 2)</a:t>
            </a:r>
          </a:p>
          <a:p>
            <a:pPr>
              <a:defRPr b="1" sz="1000">
                <a:solidFill>
                  <a:srgbClr val="1A2F5A"/>
                </a:solidFill>
              </a:defRPr>
            </a:pPr>
            <a:r>
              <a:t>• Source URL: </a:t>
            </a:r>
            <a:r>
              <a:rPr b="0" sz="900">
                <a:solidFill>
                  <a:srgbClr val="232323"/>
                </a:solidFill>
              </a:rPr>
              <a:t>Scraped historical tables from Wikipedia: List of Falcon 9 and Falcon Heavy launches.</a:t>
            </a:r>
          </a:p>
          <a:p>
            <a:pPr>
              <a:defRPr b="1" sz="1000">
                <a:solidFill>
                  <a:srgbClr val="1A2F5A"/>
                </a:solidFill>
              </a:defRPr>
            </a:pPr>
            <a:r>
              <a:t>• BeautifulSoup Parsing: </a:t>
            </a:r>
            <a:r>
              <a:rPr b="0" sz="900">
                <a:solidFill>
                  <a:srgbClr val="232323"/>
                </a:solidFill>
              </a:rPr>
              <a:t>Targeted HTML &lt;table&gt; elements with class 'wikitable', iterating through table rows and parsing table headers &lt;th&gt; and cells &lt;td&gt;.</a:t>
            </a:r>
          </a:p>
          <a:p>
            <a:pPr>
              <a:defRPr b="1" sz="1000">
                <a:solidFill>
                  <a:srgbClr val="1A2F5A"/>
                </a:solidFill>
              </a:defRPr>
            </a:pPr>
            <a:r>
              <a:t>• Extracted Attributes: </a:t>
            </a:r>
            <a:r>
              <a:rPr b="0" sz="900">
                <a:solidFill>
                  <a:srgbClr val="232323"/>
                </a:solidFill>
              </a:rPr>
              <a:t>Parsed Flight No., Launch Date, Booster Version, Launch Site, Payload, Orbit, Customer, and Launch Outcome.</a:t>
            </a:r>
          </a:p>
          <a:p>
            <a:pPr>
              <a:defRPr b="1" sz="1000">
                <a:solidFill>
                  <a:srgbClr val="1A2F5A"/>
                </a:solidFill>
              </a:defRPr>
            </a:pPr>
            <a:r>
              <a:t>• Data Cleaning &amp; Validation: </a:t>
            </a:r>
            <a:r>
              <a:rPr b="0" sz="900">
                <a:solidFill>
                  <a:srgbClr val="232323"/>
                </a:solidFill>
              </a:rPr>
              <a:t>Handled row-spans, superscripts, references (e.g., [1]), and date formatting. Extracted 321 tabular records saved to data/raw/spacex_web_scraped.csv.</a:t>
            </a:r>
          </a:p>
          <a:p>
            <a:pPr>
              <a:defRPr b="1" sz="1000">
                <a:solidFill>
                  <a:srgbClr val="1A2F5A"/>
                </a:solidFill>
              </a:defRPr>
            </a:pPr>
            <a:r>
              <a:t>• Source Code &amp; Lab: </a:t>
            </a:r>
            <a:r>
              <a:rPr b="0" sz="900">
                <a:solidFill>
                  <a:srgbClr val="232323"/>
                </a:solidFill>
              </a:rPr>
              <a:t>Completed in notebooks/02_web_scraping.ipynb and src/data_collection.py.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Data Wrangling: Cleaning, Imputation &amp; Target Construction</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notebooks/03_data_wrangling.ipynb</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3 Notebook Link: </a:t>
            </a:r>
            <a:r>
              <a:rPr b="0" sz="850">
                <a:solidFill>
                  <a:srgbClr val="0B1B3D"/>
                </a:solidFill>
              </a:rPr>
              <a:t>https://github.com/buildwithneel/Coursera-IBM-data-science-course/blob/main/notebooks/03_data_wrangling.ipynb</a:t>
            </a:r>
          </a:p>
        </p:txBody>
      </p:sp>
      <p:sp>
        <p:nvSpPr>
          <p:cNvPr id="10" name="Rounded Rectangle 9"/>
          <p:cNvSpPr/>
          <p:nvPr/>
        </p:nvSpPr>
        <p:spPr>
          <a:xfrm>
            <a:off x="7315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19072"/>
            <a:ext cx="4937760" cy="4434840"/>
          </a:xfrm>
          <a:prstGeom prst="rect">
            <a:avLst/>
          </a:prstGeom>
          <a:noFill/>
        </p:spPr>
        <p:txBody>
          <a:bodyPr wrap="square">
            <a:spAutoFit/>
          </a:bodyPr>
          <a:lstStyle/>
          <a:p>
            <a:pPr>
              <a:defRPr sz="1300" b="1">
                <a:solidFill>
                  <a:srgbClr val="0B1B3D"/>
                </a:solidFill>
              </a:defRPr>
            </a:pPr>
            <a:r>
              <a:t>Missing Values &amp; Target Variable (Class)</a:t>
            </a:r>
          </a:p>
          <a:p>
            <a:pPr>
              <a:defRPr b="1" sz="1000">
                <a:solidFill>
                  <a:srgbClr val="1A2F5A"/>
                </a:solidFill>
              </a:defRPr>
            </a:pPr>
            <a:r>
              <a:t>• Missing Value Analysis: </a:t>
            </a:r>
            <a:r>
              <a:rPr b="0" sz="900">
                <a:solidFill>
                  <a:srgbClr val="232323"/>
                </a:solidFill>
              </a:rPr>
              <a:t>Audited nulls across all features. Identified 5 missing entries in PayloadMass (early test flights). Imputed missing values using the dataset mean of 6,104.95 kg.</a:t>
            </a:r>
          </a:p>
          <a:p>
            <a:pPr>
              <a:defRPr b="1" sz="1000">
                <a:solidFill>
                  <a:srgbClr val="1A2F5A"/>
                </a:solidFill>
              </a:defRPr>
            </a:pPr>
            <a:r>
              <a:t>• Target Variable Construction: </a:t>
            </a:r>
            <a:r>
              <a:rPr b="0" sz="900">
                <a:solidFill>
                  <a:srgbClr val="232323"/>
                </a:solidFill>
              </a:rPr>
              <a:t>Engineered binary target Class from raw landing Outcome:</a:t>
            </a:r>
          </a:p>
          <a:p>
            <a:pPr>
              <a:defRPr b="1" sz="1000">
                <a:solidFill>
                  <a:srgbClr val="1A2F5A"/>
                </a:solidFill>
              </a:defRPr>
            </a:pPr>
            <a:r>
              <a:t>• Class = 1 (Successful Landing): </a:t>
            </a:r>
            <a:r>
              <a:rPr b="0" sz="900">
                <a:solidFill>
                  <a:srgbClr val="232323"/>
                </a:solidFill>
              </a:rPr>
              <a:t>True ASDS (41 drone ship touchdowns) + True RTLS (14 ground pad landings) + True Ocean (5 controlled water landings) = 60 Successful Landings (66.7%).</a:t>
            </a:r>
          </a:p>
          <a:p>
            <a:pPr>
              <a:defRPr b="1" sz="1000">
                <a:solidFill>
                  <a:srgbClr val="1A2F5A"/>
                </a:solidFill>
              </a:defRPr>
            </a:pPr>
            <a:r>
              <a:t>• Class = 0 (Failure / Expended): </a:t>
            </a:r>
            <a:r>
              <a:rPr b="0" sz="900">
                <a:solidFill>
                  <a:srgbClr val="232323"/>
                </a:solidFill>
              </a:rPr>
              <a:t>None None (19 flights with no recovery attempt) + False ASDS (6 drone ship crashes) + False Ocean (2 ocean crashes) + None ASDS (2 failed attempts) + False RTLS (1 ground pad crash) = 30 Failures (33.3%).</a:t>
            </a:r>
          </a:p>
        </p:txBody>
      </p:sp>
      <p:sp>
        <p:nvSpPr>
          <p:cNvPr id="12" name="Rounded Rectangle 11"/>
          <p:cNvSpPr/>
          <p:nvPr/>
        </p:nvSpPr>
        <p:spPr>
          <a:xfrm>
            <a:off x="62179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19072"/>
            <a:ext cx="4937760" cy="4434840"/>
          </a:xfrm>
          <a:prstGeom prst="rect">
            <a:avLst/>
          </a:prstGeom>
          <a:noFill/>
        </p:spPr>
        <p:txBody>
          <a:bodyPr wrap="square">
            <a:spAutoFit/>
          </a:bodyPr>
          <a:lstStyle/>
          <a:p>
            <a:pPr>
              <a:defRPr sz="1300" b="1">
                <a:solidFill>
                  <a:srgbClr val="0B1B3D"/>
                </a:solidFill>
              </a:defRPr>
            </a:pPr>
            <a:r>
              <a:t>Feature Engineering &amp; One-Hot Encoding</a:t>
            </a:r>
          </a:p>
          <a:p>
            <a:pPr>
              <a:defRPr b="1" sz="1000">
                <a:solidFill>
                  <a:srgbClr val="2E7D32"/>
                </a:solidFill>
              </a:defRPr>
            </a:pPr>
            <a:r>
              <a:t>✔ Launch Site Distribution: </a:t>
            </a:r>
            <a:r>
              <a:rPr b="0" sz="900">
                <a:solidFill>
                  <a:srgbClr val="232323"/>
                </a:solidFill>
              </a:rPr>
              <a:t>CCAFS SLC 40: 55 launches (61.1%), KSC LC 39A: 22 launches (24.4%), VAFB SLC 4E: 13 launches (14.4%).</a:t>
            </a:r>
          </a:p>
          <a:p>
            <a:pPr>
              <a:defRPr b="1" sz="1000">
                <a:solidFill>
                  <a:srgbClr val="2E7D32"/>
                </a:solidFill>
              </a:defRPr>
            </a:pPr>
            <a:r>
              <a:t>✔ Orbit Distribution: </a:t>
            </a:r>
            <a:r>
              <a:rPr b="0" sz="900">
                <a:solidFill>
                  <a:srgbClr val="232323"/>
                </a:solidFill>
              </a:rPr>
              <a:t>Covered 11 distinct orbital profiles: GTO (27), ISS (21), VLEO (14), PO (9), LEO (7), SSO (5), MEO (3), ES-L1 (1), HEO (1), SO (1), GEO (1).</a:t>
            </a:r>
          </a:p>
          <a:p>
            <a:pPr>
              <a:defRPr b="1" sz="1000">
                <a:solidFill>
                  <a:srgbClr val="2E7D32"/>
                </a:solidFill>
              </a:defRPr>
            </a:pPr>
            <a:r>
              <a:t>✔ Categorical Encoding: </a:t>
            </a:r>
            <a:r>
              <a:rPr b="0" sz="900">
                <a:solidFill>
                  <a:srgbClr val="232323"/>
                </a:solidFill>
              </a:rPr>
              <a:t>Applied pd.get_dummies() on categorical features: Orbit, LaunchSite, LandingPad, and Serial.</a:t>
            </a:r>
          </a:p>
          <a:p>
            <a:pPr>
              <a:defRPr b="1" sz="1000">
                <a:solidFill>
                  <a:srgbClr val="2E7D32"/>
                </a:solidFill>
              </a:defRPr>
            </a:pPr>
            <a:r>
              <a:t>✔ Predictor Feature Matrix: </a:t>
            </a:r>
            <a:r>
              <a:rPr b="0" sz="900">
                <a:solidFill>
                  <a:srgbClr val="232323"/>
                </a:solidFill>
              </a:rPr>
              <a:t>Assembled dataset_part_3.csv containing 80 numerical and one-hot encoded dummy features ready for machine learning algorithms.</a:t>
            </a:r>
          </a:p>
          <a:p>
            <a:pPr>
              <a:defRPr b="1" sz="1000">
                <a:solidFill>
                  <a:srgbClr val="2E7D32"/>
                </a:solidFill>
              </a:defRPr>
            </a:pPr>
            <a:r>
              <a:t>✔ Source Code &amp; Lab: </a:t>
            </a:r>
            <a:r>
              <a:rPr b="0" sz="900">
                <a:solidFill>
                  <a:srgbClr val="232323"/>
                </a:solidFill>
              </a:rPr>
              <a:t>Completed in notebooks/03_data_wrangling.ipynb and src/data_wrangling.py.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Exploratory Data Analysis: Research Hypotheses &amp; Framework</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notebooks/04_eda_visualizations.ipynb</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4 Notebook Link (EDA Visualization): </a:t>
            </a:r>
            <a:r>
              <a:rPr b="0" sz="850">
                <a:solidFill>
                  <a:srgbClr val="0B1B3D"/>
                </a:solidFill>
              </a:rPr>
              <a:t>https://github.com/buildwithneel/Coursera-IBM-data-science-course/blob/main/notebooks/04_eda_visualizations.ipynb</a:t>
            </a:r>
          </a:p>
        </p:txBody>
      </p:sp>
      <p:sp>
        <p:nvSpPr>
          <p:cNvPr id="10" name="Rounded Rectangle 9"/>
          <p:cNvSpPr/>
          <p:nvPr/>
        </p:nvSpPr>
        <p:spPr>
          <a:xfrm>
            <a:off x="731520" y="1645920"/>
            <a:ext cx="106984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37360"/>
            <a:ext cx="10332720" cy="4434840"/>
          </a:xfrm>
          <a:prstGeom prst="rect">
            <a:avLst/>
          </a:prstGeom>
          <a:noFill/>
        </p:spPr>
        <p:txBody>
          <a:bodyPr wrap="square">
            <a:spAutoFit/>
          </a:bodyPr>
          <a:lstStyle/>
          <a:p>
            <a:pPr>
              <a:defRPr sz="1400" b="1">
                <a:solidFill>
                  <a:srgbClr val="0B1B3D"/>
                </a:solidFill>
              </a:defRPr>
            </a:pPr>
            <a:r>
              <a:t>Four Foundational Hypotheses Guiding Exploratory Analysis</a:t>
            </a:r>
          </a:p>
          <a:p>
            <a:pPr>
              <a:defRPr b="1" sz="1050">
                <a:solidFill>
                  <a:srgbClr val="1A2F5A"/>
                </a:solidFill>
              </a:defRPr>
            </a:pPr>
            <a:r>
              <a:t>★  H1: Temporal Learning Curve Progression: </a:t>
            </a:r>
            <a:r>
              <a:rPr b="0" sz="950">
                <a:solidFill>
                  <a:srgbClr val="232323"/>
                </a:solidFill>
              </a:rPr>
              <a:t>Hypothesis: As SpaceX accumulated launch cadence from 2010 to 2020 and iterated its booster avionics, titanium grid fins, and throttle-controllable Merlin engines from Block 1 to Block 5, landing success rate increased from near 0% to over 80%.</a:t>
            </a:r>
          </a:p>
          <a:p>
            <a:pPr>
              <a:defRPr b="1" sz="1050">
                <a:solidFill>
                  <a:srgbClr val="1A2F5A"/>
                </a:solidFill>
              </a:defRPr>
            </a:pPr>
            <a:r>
              <a:t>★  H2: Launch Complex Specialization &amp; Success Variance: </a:t>
            </a:r>
            <a:r>
              <a:rPr b="0" sz="950">
                <a:solidFill>
                  <a:srgbClr val="232323"/>
                </a:solidFill>
              </a:rPr>
              <a:t>Hypothesis: Different launch sites exhibit divergent landing success rates due to differing orbital azimuths, coastal flight corridors, and mission profiles (e.g., Kennedy Space Center LC 39A vs Cape Canaveral SLC 40).</a:t>
            </a:r>
          </a:p>
          <a:p>
            <a:pPr>
              <a:defRPr b="1" sz="1050">
                <a:solidFill>
                  <a:srgbClr val="1A2F5A"/>
                </a:solidFill>
              </a:defRPr>
            </a:pPr>
            <a:r>
              <a:t>★  H3: Payload Mass Constraints on Propellant Margins: </a:t>
            </a:r>
            <a:r>
              <a:rPr b="0" sz="950">
                <a:solidFill>
                  <a:srgbClr val="232323"/>
                </a:solidFill>
              </a:rPr>
              <a:t>Hypothesis: Heavier payload masses require greater ascent burn delta-V, reducing the reserve propellant remaining in the first-stage tanks for the boostback, entry, and landing burns, thereby lowering recovery probability.</a:t>
            </a:r>
          </a:p>
          <a:p>
            <a:pPr>
              <a:defRPr b="1" sz="1050">
                <a:solidFill>
                  <a:srgbClr val="1A2F5A"/>
                </a:solidFill>
              </a:defRPr>
            </a:pPr>
            <a:r>
              <a:t>★  H4: Orbital Energy Demands Impact Recovery Mode: </a:t>
            </a:r>
            <a:r>
              <a:rPr b="0" sz="950">
                <a:solidFill>
                  <a:srgbClr val="232323"/>
                </a:solidFill>
              </a:rPr>
              <a:t>Hypothesis: High-energy missions (Geostationary Transfer Orbit - GTO) re-enter the atmosphere at extreme hypersonic velocities, requiring high-stress ocean drone ship (ASDS) recoveries with lower success compared to Low Earth Orbit (LEO) or ISS missions.</a:t>
            </a:r>
          </a:p>
          <a:p>
            <a:pPr>
              <a:defRPr b="1" sz="1050">
                <a:solidFill>
                  <a:srgbClr val="1A2F5A"/>
                </a:solidFill>
              </a:defRPr>
            </a:pPr>
            <a:r>
              <a:t>★  Methodology Implementation: </a:t>
            </a:r>
            <a:r>
              <a:rPr b="0" sz="950">
                <a:solidFill>
                  <a:srgbClr val="232323"/>
                </a:solidFill>
              </a:rPr>
              <a:t>Investigated using Pandas, Matplotlib, and Seaborn to generate 10 high-resolution analytical figures saved to visuals/eda/, verified in notebooks/04_eda_visualizations.ipynb.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Tasks 1 &amp; 2: Flight Number &amp; Payload Mass vs Launch Site</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notebooks/04_eda_visualizations.ipynb</a:t>
            </a:r>
          </a:p>
        </p:txBody>
      </p:sp>
      <p:pic>
        <p:nvPicPr>
          <p:cNvPr id="8" name="Picture 7" descr="04_flight_number_vs_launch_site.png"/>
          <p:cNvPicPr>
            <a:picLocks noChangeAspect="1"/>
          </p:cNvPicPr>
          <p:nvPr/>
        </p:nvPicPr>
        <p:blipFill>
          <a:blip r:embed="rId2"/>
          <a:stretch>
            <a:fillRect/>
          </a:stretch>
        </p:blipFill>
        <p:spPr>
          <a:xfrm>
            <a:off x="731520" y="1234440"/>
            <a:ext cx="5212080" cy="2842953"/>
          </a:xfrm>
          <a:prstGeom prst="rect">
            <a:avLst/>
          </a:prstGeom>
        </p:spPr>
      </p:pic>
      <p:pic>
        <p:nvPicPr>
          <p:cNvPr id="9" name="Picture 8" descr="05_payload_mass_vs_launch_site.png"/>
          <p:cNvPicPr>
            <a:picLocks noChangeAspect="1"/>
          </p:cNvPicPr>
          <p:nvPr/>
        </p:nvPicPr>
        <p:blipFill>
          <a:blip r:embed="rId3"/>
          <a:stretch>
            <a:fillRect/>
          </a:stretch>
        </p:blipFill>
        <p:spPr>
          <a:xfrm>
            <a:off x="6217920" y="1234440"/>
            <a:ext cx="5212080" cy="2842953"/>
          </a:xfrm>
          <a:prstGeom prst="rect">
            <a:avLst/>
          </a:prstGeom>
        </p:spPr>
      </p:pic>
      <p:sp>
        <p:nvSpPr>
          <p:cNvPr id="10" name="Rounded Rectangle 9"/>
          <p:cNvSpPr/>
          <p:nvPr/>
        </p:nvSpPr>
        <p:spPr>
          <a:xfrm>
            <a:off x="731520" y="4800600"/>
            <a:ext cx="10698480" cy="155448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46320"/>
            <a:ext cx="10424160" cy="1463040"/>
          </a:xfrm>
          <a:prstGeom prst="rect">
            <a:avLst/>
          </a:prstGeom>
          <a:noFill/>
        </p:spPr>
        <p:txBody>
          <a:bodyPr wrap="square">
            <a:spAutoFit/>
          </a:bodyPr>
          <a:lstStyle/>
          <a:p>
            <a:pPr>
              <a:defRPr sz="1100" b="1">
                <a:solidFill>
                  <a:srgbClr val="0B1B3D"/>
                </a:solidFill>
              </a:defRPr>
            </a:pPr>
            <a:r>
              <a:t>Quantitative Findings: Task 1 (Flight No vs Site) &amp; Task 2 (Payload vs Site)</a:t>
            </a:r>
          </a:p>
          <a:p>
            <a:pPr>
              <a:defRPr sz="950">
                <a:solidFill>
                  <a:srgbClr val="232323"/>
                </a:solidFill>
              </a:defRPr>
            </a:pPr>
            <a:r>
              <a:t>• Task 1 (Flight No vs Site): CCAFS SLC 40 hosted all early flights (1-25) with initial experimental failures; KSC LC 39A entered service at Flight 30 with predominantly successful landings; VAFB SLC 4E operates steadily for polar orbits.</a:t>
            </a:r>
          </a:p>
          <a:p>
            <a:pPr>
              <a:defRPr sz="950">
                <a:solidFill>
                  <a:srgbClr val="232323"/>
                </a:solidFill>
              </a:defRPr>
            </a:pPr>
            <a:r>
              <a:t>• Task 2 (Payload vs Site): Payloads &gt;10,000 kg are concentrated exclusively at Florida sites (CCAFS SLC 40 &amp; KSC LC 39A); VAFB SLC 4E operates with payloads strictly under 10,000 kg.</a:t>
            </a:r>
          </a:p>
          <a:p>
            <a:pPr>
              <a:defRPr sz="950">
                <a:solidFill>
                  <a:srgbClr val="232323"/>
                </a:solidFill>
              </a:defRPr>
            </a:pPr>
            <a:r>
              <a:t>• Success Distribution: Higher flight numbers strongly correlate with successful landings across all three launch complexes, proving hardware maturity.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Tasks 3 &amp; 4: Success Rate &amp; Flight Number vs Orbit Type</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notebooks/04_eda_visualizations.ipynb</a:t>
            </a:r>
          </a:p>
        </p:txBody>
      </p:sp>
      <p:pic>
        <p:nvPicPr>
          <p:cNvPr id="8" name="Picture 7" descr="06_success_rate_by_orbit.png"/>
          <p:cNvPicPr>
            <a:picLocks noChangeAspect="1"/>
          </p:cNvPicPr>
          <p:nvPr/>
        </p:nvPicPr>
        <p:blipFill>
          <a:blip r:embed="rId2"/>
          <a:stretch>
            <a:fillRect/>
          </a:stretch>
        </p:blipFill>
        <p:spPr>
          <a:xfrm>
            <a:off x="731520" y="1234440"/>
            <a:ext cx="5212080" cy="2842953"/>
          </a:xfrm>
          <a:prstGeom prst="rect">
            <a:avLst/>
          </a:prstGeom>
        </p:spPr>
      </p:pic>
      <p:pic>
        <p:nvPicPr>
          <p:cNvPr id="9" name="Picture 8" descr="07_flight_number_vs_orbit.png"/>
          <p:cNvPicPr>
            <a:picLocks noChangeAspect="1"/>
          </p:cNvPicPr>
          <p:nvPr/>
        </p:nvPicPr>
        <p:blipFill>
          <a:blip r:embed="rId3"/>
          <a:stretch>
            <a:fillRect/>
          </a:stretch>
        </p:blipFill>
        <p:spPr>
          <a:xfrm>
            <a:off x="6217920" y="1234440"/>
            <a:ext cx="5212080" cy="2842953"/>
          </a:xfrm>
          <a:prstGeom prst="rect">
            <a:avLst/>
          </a:prstGeom>
        </p:spPr>
      </p:pic>
      <p:sp>
        <p:nvSpPr>
          <p:cNvPr id="10" name="Rounded Rectangle 9"/>
          <p:cNvSpPr/>
          <p:nvPr/>
        </p:nvSpPr>
        <p:spPr>
          <a:xfrm>
            <a:off x="731520" y="4800600"/>
            <a:ext cx="10698480" cy="155448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46320"/>
            <a:ext cx="10424160" cy="1463040"/>
          </a:xfrm>
          <a:prstGeom prst="rect">
            <a:avLst/>
          </a:prstGeom>
          <a:noFill/>
        </p:spPr>
        <p:txBody>
          <a:bodyPr wrap="square">
            <a:spAutoFit/>
          </a:bodyPr>
          <a:lstStyle/>
          <a:p>
            <a:pPr>
              <a:defRPr sz="1100" b="1">
                <a:solidFill>
                  <a:srgbClr val="0B1B3D"/>
                </a:solidFill>
              </a:defRPr>
            </a:pPr>
            <a:r>
              <a:t>Quantitative Findings: Task 3 (Success vs Orbit) &amp; Task 4 (Flight No vs Orbit)</a:t>
            </a:r>
          </a:p>
          <a:p>
            <a:pPr>
              <a:defRPr sz="950">
                <a:solidFill>
                  <a:srgbClr val="232323"/>
                </a:solidFill>
              </a:defRPr>
            </a:pPr>
            <a:r>
              <a:t>• Task 3 (Success vs Orbit): Orbits ES-L1, GEO, HEO, and SSO achieved a 100% landing success rate; VLEO achieved 85.7%; ISS achieved 61.9%; GTO missions achieved 51.8% success.</a:t>
            </a:r>
          </a:p>
          <a:p>
            <a:pPr>
              <a:defRPr sz="950">
                <a:solidFill>
                  <a:srgbClr val="232323"/>
                </a:solidFill>
              </a:defRPr>
            </a:pPr>
            <a:r>
              <a:t>• Task 4 (Flight No vs Orbit): In early flights (1-40), GTO and ISS missions suffered landing failures. In later flights (&gt;50), VLEO (Starlink) and modern ISS missions achieved near-perfect recovery.</a:t>
            </a:r>
          </a:p>
          <a:p>
            <a:pPr>
              <a:defRPr sz="950">
                <a:solidFill>
                  <a:srgbClr val="232323"/>
                </a:solidFill>
              </a:defRPr>
            </a:pPr>
            <a:r>
              <a:t>• Re-entry Velocity Impact: GTO missions enter at extreme velocity (~30,000 km/h), requiring high-stress ocean drone ship landings with tighter fuel reserves.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Tasks 5 &amp; 6: Payload Mass vs Orbit &amp; Yearly Success Trend</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notebooks/04_eda_visualizations.ipynb</a:t>
            </a:r>
          </a:p>
        </p:txBody>
      </p:sp>
      <p:pic>
        <p:nvPicPr>
          <p:cNvPr id="8" name="Picture 7" descr="08_payload_mass_vs_orbit.png"/>
          <p:cNvPicPr>
            <a:picLocks noChangeAspect="1"/>
          </p:cNvPicPr>
          <p:nvPr/>
        </p:nvPicPr>
        <p:blipFill>
          <a:blip r:embed="rId2"/>
          <a:stretch>
            <a:fillRect/>
          </a:stretch>
        </p:blipFill>
        <p:spPr>
          <a:xfrm>
            <a:off x="731520" y="1234440"/>
            <a:ext cx="5212080" cy="2842953"/>
          </a:xfrm>
          <a:prstGeom prst="rect">
            <a:avLst/>
          </a:prstGeom>
        </p:spPr>
      </p:pic>
      <p:pic>
        <p:nvPicPr>
          <p:cNvPr id="9" name="Picture 8" descr="09_yearly_success_trend.png"/>
          <p:cNvPicPr>
            <a:picLocks noChangeAspect="1"/>
          </p:cNvPicPr>
          <p:nvPr/>
        </p:nvPicPr>
        <p:blipFill>
          <a:blip r:embed="rId3"/>
          <a:stretch>
            <a:fillRect/>
          </a:stretch>
        </p:blipFill>
        <p:spPr>
          <a:xfrm>
            <a:off x="6217920" y="1234440"/>
            <a:ext cx="5212080" cy="2606040"/>
          </a:xfrm>
          <a:prstGeom prst="rect">
            <a:avLst/>
          </a:prstGeom>
        </p:spPr>
      </p:pic>
      <p:sp>
        <p:nvSpPr>
          <p:cNvPr id="10" name="Rounded Rectangle 9"/>
          <p:cNvSpPr/>
          <p:nvPr/>
        </p:nvSpPr>
        <p:spPr>
          <a:xfrm>
            <a:off x="731520" y="4800600"/>
            <a:ext cx="10698480" cy="155448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46320"/>
            <a:ext cx="10424160" cy="1463040"/>
          </a:xfrm>
          <a:prstGeom prst="rect">
            <a:avLst/>
          </a:prstGeom>
          <a:noFill/>
        </p:spPr>
        <p:txBody>
          <a:bodyPr wrap="square">
            <a:spAutoFit/>
          </a:bodyPr>
          <a:lstStyle/>
          <a:p>
            <a:pPr>
              <a:defRPr sz="1100" b="1">
                <a:solidFill>
                  <a:srgbClr val="0B1B3D"/>
                </a:solidFill>
              </a:defRPr>
            </a:pPr>
            <a:r>
              <a:t>Quantitative Findings: Task 5 (Payload vs Orbit) &amp; Task 6 (Yearly Trend Line)</a:t>
            </a:r>
          </a:p>
          <a:p>
            <a:pPr>
              <a:defRPr sz="950">
                <a:solidFill>
                  <a:srgbClr val="232323"/>
                </a:solidFill>
              </a:defRPr>
            </a:pPr>
            <a:r>
              <a:t>• Task 5 (Payload vs Orbit): Heavy payloads (&gt;10,000 kg) are concentrated in VLEO (Starlink) and achieved high success; GTO payloads range between 3,000-7,000 kg with mixed outcomes.</a:t>
            </a:r>
          </a:p>
          <a:p>
            <a:pPr>
              <a:defRPr sz="950">
                <a:solidFill>
                  <a:srgbClr val="232323"/>
                </a:solidFill>
              </a:defRPr>
            </a:pPr>
            <a:r>
              <a:t>• Task 6 (Yearly Success Trend): Landing success followed a clear learning curve: 0% in 2010-2013 -&gt; 33.3% in 2014-2015 -&gt; 66.7% in 2016 -&gt; 80.0% in 2017 -&gt; 84.2% in 2020.</a:t>
            </a:r>
          </a:p>
          <a:p>
            <a:pPr>
              <a:defRPr sz="950">
                <a:solidFill>
                  <a:srgbClr val="232323"/>
                </a:solidFill>
              </a:defRPr>
            </a:pPr>
            <a:r>
              <a:t>• Engineering Milestone: Transition to Block 5 boosters in 2018 established sustained high reliability (&gt;80%).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Visual Results: Launch Cadence &amp; Overall Success Distribution</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notebooks/04_eda_visualizations.ipynb</a:t>
            </a:r>
          </a:p>
        </p:txBody>
      </p:sp>
      <p:pic>
        <p:nvPicPr>
          <p:cNvPr id="8" name="Picture 7" descr="01_launches_over_time.png"/>
          <p:cNvPicPr>
            <a:picLocks noChangeAspect="1"/>
          </p:cNvPicPr>
          <p:nvPr/>
        </p:nvPicPr>
        <p:blipFill>
          <a:blip r:embed="rId2"/>
          <a:stretch>
            <a:fillRect/>
          </a:stretch>
        </p:blipFill>
        <p:spPr>
          <a:xfrm>
            <a:off x="731520" y="1234440"/>
            <a:ext cx="5212080" cy="2606040"/>
          </a:xfrm>
          <a:prstGeom prst="rect">
            <a:avLst/>
          </a:prstGeom>
        </p:spPr>
      </p:pic>
      <p:pic>
        <p:nvPicPr>
          <p:cNvPr id="9" name="Picture 8" descr="03_overall_landing_success_rate.png"/>
          <p:cNvPicPr>
            <a:picLocks noChangeAspect="1"/>
          </p:cNvPicPr>
          <p:nvPr/>
        </p:nvPicPr>
        <p:blipFill>
          <a:blip r:embed="rId3"/>
          <a:stretch>
            <a:fillRect/>
          </a:stretch>
        </p:blipFill>
        <p:spPr>
          <a:xfrm>
            <a:off x="6217920" y="1234440"/>
            <a:ext cx="5212080" cy="5212080"/>
          </a:xfrm>
          <a:prstGeom prst="rect">
            <a:avLst/>
          </a:prstGeom>
        </p:spPr>
      </p:pic>
      <p:sp>
        <p:nvSpPr>
          <p:cNvPr id="10" name="Rounded Rectangle 9"/>
          <p:cNvSpPr/>
          <p:nvPr/>
        </p:nvSpPr>
        <p:spPr>
          <a:xfrm>
            <a:off x="731520" y="4800600"/>
            <a:ext cx="10698480" cy="155448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46320"/>
            <a:ext cx="10424160" cy="1463040"/>
          </a:xfrm>
          <a:prstGeom prst="rect">
            <a:avLst/>
          </a:prstGeom>
          <a:noFill/>
        </p:spPr>
        <p:txBody>
          <a:bodyPr wrap="square">
            <a:spAutoFit/>
          </a:bodyPr>
          <a:lstStyle/>
          <a:p>
            <a:pPr>
              <a:defRPr sz="1100" b="1">
                <a:solidFill>
                  <a:srgbClr val="0B1B3D"/>
                </a:solidFill>
              </a:defRPr>
            </a:pPr>
            <a:r>
              <a:t>Quantitative Findings: Annual Cadence Growth &amp; Class Distribution</a:t>
            </a:r>
          </a:p>
          <a:p>
            <a:pPr>
              <a:defRPr sz="950">
                <a:solidFill>
                  <a:srgbClr val="232323"/>
                </a:solidFill>
              </a:defRPr>
            </a:pPr>
            <a:r>
              <a:t>• 19x Cadence Expansion: Launch frequency surged from 1-3 test flights per year (2010-2013) to ~19 launches per year by 2020.</a:t>
            </a:r>
          </a:p>
          <a:p>
            <a:pPr>
              <a:defRPr sz="950">
                <a:solidFill>
                  <a:srgbClr val="232323"/>
                </a:solidFill>
              </a:defRPr>
            </a:pPr>
            <a:r>
              <a:t>• Baseline Class Distribution: 60 Successful Landings (66.7%) vs 30 Failed / Expended Boosters (33.3%).</a:t>
            </a:r>
          </a:p>
          <a:p>
            <a:pPr>
              <a:defRPr sz="950">
                <a:solidFill>
                  <a:srgbClr val="232323"/>
                </a:solidFill>
              </a:defRPr>
            </a:pPr>
            <a:r>
              <a:t>• Operational Shift: Boosters evolved from expendable experimental hardware to industrial-scale reusability.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with SQL: Tasks 1 to 4 (Launch Complexes &amp; Payload Statistics)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notebooks/05_sql_analysis.ipynb</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5 Notebook Link (EDA with SQL): </a:t>
            </a:r>
            <a:r>
              <a:rPr b="0" sz="850">
                <a:solidFill>
                  <a:srgbClr val="0B1B3D"/>
                </a:solidFill>
              </a:rPr>
              <a:t>https://github.com/buildwithneel/Coursera-IBM-data-science-course/blob/main/notebooks/05_sql_analysis.ipynb</a:t>
            </a:r>
          </a:p>
        </p:txBody>
      </p:sp>
      <p:sp>
        <p:nvSpPr>
          <p:cNvPr id="10" name="Rounded Rectangle 9"/>
          <p:cNvSpPr/>
          <p:nvPr/>
        </p:nvSpPr>
        <p:spPr>
          <a:xfrm>
            <a:off x="7315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19072"/>
            <a:ext cx="4937760" cy="4434840"/>
          </a:xfrm>
          <a:prstGeom prst="rect">
            <a:avLst/>
          </a:prstGeom>
          <a:noFill/>
        </p:spPr>
        <p:txBody>
          <a:bodyPr wrap="square">
            <a:spAutoFit/>
          </a:bodyPr>
          <a:lstStyle/>
          <a:p>
            <a:pPr>
              <a:defRPr sz="1200" b="1">
                <a:solidFill>
                  <a:srgbClr val="0B1B3D"/>
                </a:solidFill>
              </a:defRPr>
            </a:pPr>
            <a:r>
              <a:t>Tasks 1 &amp; 2: Launch Sites &amp; Cape Canaveral Queries</a:t>
            </a:r>
          </a:p>
          <a:p>
            <a:pPr>
              <a:defRPr b="1" sz="950">
                <a:solidFill>
                  <a:srgbClr val="1A2F5A"/>
                </a:solidFill>
              </a:defRPr>
            </a:pPr>
            <a:r>
              <a:t>• Task 1: Names of Unique Launch Sites:</a:t>
            </a:r>
            <a:br/>
            <a:r>
              <a:rPr b="0" sz="850">
                <a:solidFill>
                  <a:srgbClr val="232323"/>
                </a:solidFill>
              </a:rPr>
              <a:t>SELECT DISTINCT LaunchSite FROM SPACEXTBL;
Result: CCAFS SLC 40, KSC LC 39A, VAFB SLC 4E</a:t>
            </a:r>
          </a:p>
          <a:p>
            <a:pPr>
              <a:defRPr b="1" sz="950">
                <a:solidFill>
                  <a:srgbClr val="1A2F5A"/>
                </a:solidFill>
              </a:defRPr>
            </a:pPr>
            <a:r>
              <a:t>• Task 2: 5 Records where Launch Site begins with 'CCA':</a:t>
            </a:r>
            <a:br/>
            <a:r>
              <a:rPr b="0" sz="850">
                <a:solidFill>
                  <a:srgbClr val="232323"/>
                </a:solidFill>
              </a:rPr>
              <a:t>SELECT FlightNumber, Date, LaunchSite, BoosterVersion, PayloadMass
FROM SPACEXTBL WHERE LaunchSite LIKE 'CCA%' LIMIT 5;
Result: Flights #1 to #5 launched from CCAFS SLC 40 (2010 to 2013).</a:t>
            </a:r>
          </a:p>
        </p:txBody>
      </p:sp>
      <p:sp>
        <p:nvSpPr>
          <p:cNvPr id="12" name="Rounded Rectangle 11"/>
          <p:cNvSpPr/>
          <p:nvPr/>
        </p:nvSpPr>
        <p:spPr>
          <a:xfrm>
            <a:off x="62179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19072"/>
            <a:ext cx="4937760" cy="4434840"/>
          </a:xfrm>
          <a:prstGeom prst="rect">
            <a:avLst/>
          </a:prstGeom>
          <a:noFill/>
        </p:spPr>
        <p:txBody>
          <a:bodyPr wrap="square">
            <a:spAutoFit/>
          </a:bodyPr>
          <a:lstStyle/>
          <a:p>
            <a:pPr>
              <a:defRPr sz="1200" b="1">
                <a:solidFill>
                  <a:srgbClr val="0B1B3D"/>
                </a:solidFill>
              </a:defRPr>
            </a:pPr>
            <a:r>
              <a:t>Tasks 3 &amp; 4: Total &amp; Average Payload Statistics</a:t>
            </a:r>
          </a:p>
          <a:p>
            <a:pPr>
              <a:defRPr b="1" sz="950">
                <a:solidFill>
                  <a:srgbClr val="2E7D32"/>
                </a:solidFill>
              </a:defRPr>
            </a:pPr>
            <a:r>
              <a:t>✔ Task 3: Total Payload Mass by Launch Site:</a:t>
            </a:r>
            <a:br/>
            <a:r>
              <a:rPr b="0" sz="850">
                <a:solidFill>
                  <a:srgbClr val="232323"/>
                </a:solidFill>
              </a:rPr>
              <a:t>SELECT LaunchSite, SUM(PayloadMass) AS TotalPayload,
COUNT(*) AS TotalLaunches FROM SPACEXTBL GROUP BY LaunchSite;
Result: CCAFS SLC 40 = 305,532 kg (55 flights)
        KSC LC 39A = 168,198 kg (22 flights)
        VAFB SLC 4E = 76,950 kg (13 flights)</a:t>
            </a:r>
          </a:p>
          <a:p>
            <a:pPr>
              <a:defRPr b="1" sz="950">
                <a:solidFill>
                  <a:srgbClr val="2E7D32"/>
                </a:solidFill>
              </a:defRPr>
            </a:pPr>
            <a:r>
              <a:t>✔ Task 4: Average, Min &amp; Max Payload Mass:</a:t>
            </a:r>
            <a:br/>
            <a:r>
              <a:rPr b="0" sz="850">
                <a:solidFill>
                  <a:srgbClr val="232323"/>
                </a:solidFill>
              </a:rPr>
              <a:t>SELECT ROUND(AVG(PayloadMass), 2) AS AvgPayload,
MIN(PayloadMass) AS MinPayload, MAX(PayloadMass) AS MaxPayload
FROM SPACEXTBL;
Result: Average Payload = 6,104.95 kg
        Min = 350 kg | Max = 15,600 kg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with SQL: Tasks 5 to 7 (Landing Milestones &amp; Mission Outcomes)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notebooks/05_sql_analysis.ipynb</a:t>
            </a:r>
          </a:p>
        </p:txBody>
      </p:sp>
      <p:sp>
        <p:nvSpPr>
          <p:cNvPr id="8" name="Rounded Rectangle 7"/>
          <p:cNvSpPr/>
          <p:nvPr/>
        </p:nvSpPr>
        <p:spPr>
          <a:xfrm>
            <a:off x="7315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25880"/>
            <a:ext cx="4937760" cy="4846320"/>
          </a:xfrm>
          <a:prstGeom prst="rect">
            <a:avLst/>
          </a:prstGeom>
          <a:noFill/>
        </p:spPr>
        <p:txBody>
          <a:bodyPr wrap="square">
            <a:spAutoFit/>
          </a:bodyPr>
          <a:lstStyle/>
          <a:p>
            <a:pPr>
              <a:defRPr sz="1200" b="1">
                <a:solidFill>
                  <a:srgbClr val="0B1B3D"/>
                </a:solidFill>
              </a:defRPr>
            </a:pPr>
            <a:r>
              <a:t>Tasks 5 &amp; 6: Ground Pad &amp; Drone Ship Successes</a:t>
            </a:r>
          </a:p>
          <a:p>
            <a:pPr>
              <a:defRPr b="1" sz="1000">
                <a:solidFill>
                  <a:srgbClr val="1A2F5A"/>
                </a:solidFill>
              </a:defRPr>
            </a:pPr>
            <a:r>
              <a:t>★ Task 5: Date of First Successful Ground Pad Landing (RTLS):</a:t>
            </a:r>
            <a:br/>
            <a:r>
              <a:rPr b="0" sz="900">
                <a:solidFill>
                  <a:srgbClr val="232323"/>
                </a:solidFill>
              </a:rPr>
              <a:t>SELECT MIN(Date) AS FirstSuccessDate, FlightNumber, LaunchSite
FROM SPACEXTBL WHERE Outcome = 'True RTLS';
Result: 2015-12-22 | Flight #19 | Booster B1019 | CCAFS SLC 40</a:t>
            </a:r>
          </a:p>
          <a:p>
            <a:pPr>
              <a:defRPr b="1" sz="1000">
                <a:solidFill>
                  <a:srgbClr val="1A2F5A"/>
                </a:solidFill>
              </a:defRPr>
            </a:pPr>
            <a:r>
              <a:t>★ Task 6: Drone Ship Success with Payload between 4k-6k kg:</a:t>
            </a:r>
            <a:br/>
            <a:r>
              <a:rPr b="0" sz="900">
                <a:solidFill>
                  <a:srgbClr val="232323"/>
                </a:solidFill>
              </a:rPr>
              <a:t>SELECT FlightNumber, Date, Serial, PayloadMass, LaunchSite
FROM SPACEXTBL WHERE Outcome = 'True ASDS' AND
PayloadMass BETWEEN 4000 AND 6000;
Result: Boosters B1022 (JCSAT-14), B1026 (JCSAT-16), B1048</a:t>
            </a:r>
          </a:p>
        </p:txBody>
      </p:sp>
      <p:sp>
        <p:nvSpPr>
          <p:cNvPr id="10" name="Rounded Rectangle 9"/>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37760" cy="4846320"/>
          </a:xfrm>
          <a:prstGeom prst="rect">
            <a:avLst/>
          </a:prstGeom>
          <a:noFill/>
        </p:spPr>
        <p:txBody>
          <a:bodyPr wrap="square">
            <a:spAutoFit/>
          </a:bodyPr>
          <a:lstStyle/>
          <a:p>
            <a:pPr>
              <a:defRPr sz="1200" b="1">
                <a:solidFill>
                  <a:srgbClr val="0B1B3D"/>
                </a:solidFill>
              </a:defRPr>
            </a:pPr>
            <a:r>
              <a:t>Task 7: Total Number of Successful &amp; Failure Outcomes</a:t>
            </a:r>
          </a:p>
          <a:p>
            <a:pPr>
              <a:defRPr b="1" sz="1000">
                <a:solidFill>
                  <a:srgbClr val="2E7D32"/>
                </a:solidFill>
              </a:defRPr>
            </a:pPr>
            <a:r>
              <a:t>✔ Task 7: Mission Outcomes Balance (Class = 1 vs Class = 0):</a:t>
            </a:r>
            <a:br/>
            <a:r>
              <a:rPr b="0" sz="900">
                <a:solidFill>
                  <a:srgbClr val="232323"/>
                </a:solidFill>
              </a:rPr>
              <a:t>SELECT CASE WHEN Class = 1 THEN 'Successful Landing'
            ELSE 'Failure / Uncontrolled' END AS LandingStatus,
COUNT(*) AS TotalCount, ROUND(COUNT(*)*100.0/90, 2) AS Percentage
FROM SPACEXTBL GROUP BY Class ORDER BY TotalCount DESC;
Result: Successful Landings (Class 1) = 60 flights (66.67%)
        Failures / Expended (Class 0) = 30 flights (33.33%)</a:t>
            </a:r>
          </a:p>
          <a:p>
            <a:pPr>
              <a:defRPr b="1" sz="1000">
                <a:solidFill>
                  <a:srgbClr val="2E7D32"/>
                </a:solidFill>
              </a:defRPr>
            </a:pPr>
            <a:r>
              <a:t>✔ Operational Significance:</a:t>
            </a:r>
            <a:br/>
            <a:r>
              <a:rPr b="0" sz="900">
                <a:solidFill>
                  <a:srgbClr val="232323"/>
                </a:solidFill>
              </a:rPr>
              <a:t>This 2:1 class balance establishes our 66.7% baseline accuracy. Any predictive model must significantly outperform 66.7% to prove predictive utility.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EDA with SQL: Tasks 8 to 10 (Max Payload, 2015 Outcomes &amp; Rankings)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notebooks/05_sql_analysis.ipynb</a:t>
            </a:r>
          </a:p>
        </p:txBody>
      </p:sp>
      <p:sp>
        <p:nvSpPr>
          <p:cNvPr id="8" name="Rounded Rectangle 7"/>
          <p:cNvSpPr/>
          <p:nvPr/>
        </p:nvSpPr>
        <p:spPr>
          <a:xfrm>
            <a:off x="7315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25880"/>
            <a:ext cx="4937760" cy="4846320"/>
          </a:xfrm>
          <a:prstGeom prst="rect">
            <a:avLst/>
          </a:prstGeom>
          <a:noFill/>
        </p:spPr>
        <p:txBody>
          <a:bodyPr wrap="square">
            <a:spAutoFit/>
          </a:bodyPr>
          <a:lstStyle/>
          <a:p>
            <a:pPr>
              <a:defRPr sz="1200" b="1">
                <a:solidFill>
                  <a:srgbClr val="0B1B3D"/>
                </a:solidFill>
              </a:defRPr>
            </a:pPr>
            <a:r>
              <a:t>Tasks 8 &amp; 9: Max Payload &amp; 2015 Cadence</a:t>
            </a:r>
          </a:p>
          <a:p>
            <a:pPr>
              <a:defRPr b="1" sz="950">
                <a:solidFill>
                  <a:srgbClr val="1A2F5A"/>
                </a:solidFill>
              </a:defRPr>
            </a:pPr>
            <a:r>
              <a:t>★ Task 8: Boosters Carrying Maximum Payload Mass:</a:t>
            </a:r>
            <a:br/>
            <a:r>
              <a:rPr b="0" sz="850">
                <a:solidFill>
                  <a:srgbClr val="232323"/>
                </a:solidFill>
              </a:rPr>
              <a:t>SELECT FlightNumber, Date, Serial, PayloadMass
FROM SPACEXTBL WHERE PayloadMass = (SELECT MAX(PayloadMass) FROM SPACEXTBL);
Result: Maximum Payload = 15,600 kg. Carried by Starlink Block 5 boosters: B1048, B1049, B1051, B1056, B1058, B1060.</a:t>
            </a:r>
          </a:p>
          <a:p>
            <a:pPr>
              <a:defRPr b="1" sz="950">
                <a:solidFill>
                  <a:srgbClr val="1A2F5A"/>
                </a:solidFill>
              </a:defRPr>
            </a:pPr>
            <a:r>
              <a:t>★ Task 9: Monthly Landing Outcomes in Year 2015:</a:t>
            </a:r>
            <a:br/>
            <a:r>
              <a:rPr b="0" sz="850">
                <a:solidFill>
                  <a:srgbClr val="232323"/>
                </a:solidFill>
              </a:rPr>
              <a:t>SELECT strftime('%m', Date) AS Month, Date, Serial, LaunchSite, Outcome
FROM SPACEXTBL WHERE strftime('%Y', Date) = '2015' ORDER BY Date;
Result: Shows experimental drone ship tests (False ASDS on 2015-01-10 &amp; 2015-04-14) culminating in first RTLS success (2015-12-22).</a:t>
            </a:r>
          </a:p>
        </p:txBody>
      </p:sp>
      <p:sp>
        <p:nvSpPr>
          <p:cNvPr id="10" name="Rounded Rectangle 9"/>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37760" cy="4846320"/>
          </a:xfrm>
          <a:prstGeom prst="rect">
            <a:avLst/>
          </a:prstGeom>
          <a:noFill/>
        </p:spPr>
        <p:txBody>
          <a:bodyPr wrap="square">
            <a:spAutoFit/>
          </a:bodyPr>
          <a:lstStyle/>
          <a:p>
            <a:pPr>
              <a:defRPr sz="1200" b="1">
                <a:solidFill>
                  <a:srgbClr val="0B1B3D"/>
                </a:solidFill>
              </a:defRPr>
            </a:pPr>
            <a:r>
              <a:t>Task 10: Ranked Landing Outcomes Frequency</a:t>
            </a:r>
          </a:p>
          <a:p>
            <a:pPr>
              <a:defRPr b="1" sz="950">
                <a:solidFill>
                  <a:srgbClr val="2E7D32"/>
                </a:solidFill>
              </a:defRPr>
            </a:pPr>
            <a:r>
              <a:t>✔ Task 10: Rank Count of Landing Outcomes (2010 to 2020):</a:t>
            </a:r>
            <a:br/>
            <a:r>
              <a:rPr b="0" sz="850">
                <a:solidFill>
                  <a:srgbClr val="232323"/>
                </a:solidFill>
              </a:rPr>
              <a:t>SELECT Outcome, COUNT(*) AS Frequency, CASE WHEN Outcome LIKE 'True%'
THEN 'Success' ELSE 'Failure' END AS Category FROM SPACEXTBL
WHERE Date BETWEEN '2010-06-04' AND '2020-11-05'
GROUP BY Outcome ORDER BY Frequency DESC;
Result: 1. True ASDS: 41 recoveries (Primary method)
        2. None None: 19 expended / unattempted
        3. True RTLS: 14 ground pad touchdowns
        4. False ASDS: 6 drone ship crash landings
        5. True Ocean: 5 controlled water touchdowns
        6. False Ocean: 2 uncontrolled ocean crashes
        7. None ASDS: 2 failed ocean attempts
        8. False RTLS: 1 ground pad landing crash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Geospatial Analysis: Folium Launch Site Markers &amp; Counts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notebooks/06_folium_launch_map.ipynb</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6 Notebook Link (Interactive Visual Analytics with Folium): </a:t>
            </a:r>
            <a:r>
              <a:rPr b="0" sz="850">
                <a:solidFill>
                  <a:srgbClr val="0B1B3D"/>
                </a:solidFill>
              </a:rPr>
              <a:t>https://github.com/buildwithneel/Coursera-IBM-data-science-course/blob/main/notebooks/06_folium_launch_map.ipynb</a:t>
            </a:r>
          </a:p>
        </p:txBody>
      </p:sp>
      <p:pic>
        <p:nvPicPr>
          <p:cNvPr id="10" name="Picture 9" descr="folium_map_screenshot.png"/>
          <p:cNvPicPr>
            <a:picLocks noChangeAspect="1"/>
          </p:cNvPicPr>
          <p:nvPr/>
        </p:nvPicPr>
        <p:blipFill>
          <a:blip r:embed="rId2"/>
          <a:stretch>
            <a:fillRect/>
          </a:stretch>
        </p:blipFill>
        <p:spPr>
          <a:xfrm>
            <a:off x="731520" y="1645920"/>
            <a:ext cx="5669280" cy="3543300"/>
          </a:xfrm>
          <a:prstGeom prst="rect">
            <a:avLst/>
          </a:prstGeom>
        </p:spPr>
      </p:pic>
      <p:sp>
        <p:nvSpPr>
          <p:cNvPr id="11" name="Rounded Rectangle 10"/>
          <p:cNvSpPr/>
          <p:nvPr/>
        </p:nvSpPr>
        <p:spPr>
          <a:xfrm>
            <a:off x="6583680" y="1645920"/>
            <a:ext cx="484632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719072"/>
            <a:ext cx="4572000" cy="4434840"/>
          </a:xfrm>
          <a:prstGeom prst="rect">
            <a:avLst/>
          </a:prstGeom>
          <a:noFill/>
        </p:spPr>
        <p:txBody>
          <a:bodyPr wrap="square">
            <a:spAutoFit/>
          </a:bodyPr>
          <a:lstStyle/>
          <a:p>
            <a:pPr>
              <a:defRPr sz="1200" b="1">
                <a:solidFill>
                  <a:srgbClr val="0B1B3D"/>
                </a:solidFill>
              </a:defRPr>
            </a:pPr>
            <a:r>
              <a:t>Launch Site Counts &amp; Folium Marker Details</a:t>
            </a:r>
          </a:p>
          <a:p>
            <a:pPr>
              <a:defRPr b="1" sz="1000">
                <a:solidFill>
                  <a:srgbClr val="1A2F5A"/>
                </a:solidFill>
              </a:defRPr>
            </a:pPr>
            <a:r>
              <a:t>📍  CCAFS SLC 40 (Florida): </a:t>
            </a:r>
            <a:r>
              <a:rPr b="0" sz="850">
                <a:solidFill>
                  <a:srgbClr val="232323"/>
                </a:solidFill>
              </a:rPr>
              <a:t>55 total launches (33 successful landings, 22 failures / expended, 60.0% success rate). Primary launch workhorse.</a:t>
            </a:r>
          </a:p>
          <a:p>
            <a:pPr>
              <a:defRPr b="1" sz="1000">
                <a:solidFill>
                  <a:srgbClr val="1A2F5A"/>
                </a:solidFill>
              </a:defRPr>
            </a:pPr>
            <a:r>
              <a:t>📍  KSC LC 39A (Florida): </a:t>
            </a:r>
            <a:r>
              <a:rPr b="0" sz="850">
                <a:solidFill>
                  <a:srgbClr val="232323"/>
                </a:solidFill>
              </a:rPr>
              <a:t>22 total launches (17 successful landings, 5 failures / expended, 77.3% success rate). Highest site success rate.</a:t>
            </a:r>
          </a:p>
          <a:p>
            <a:pPr>
              <a:defRPr b="1" sz="1000">
                <a:solidFill>
                  <a:srgbClr val="1A2F5A"/>
                </a:solidFill>
              </a:defRPr>
            </a:pPr>
            <a:r>
              <a:t>📍  VAFB SLC 4E (California): </a:t>
            </a:r>
            <a:r>
              <a:rPr b="0" sz="850">
                <a:solidFill>
                  <a:srgbClr val="232323"/>
                </a:solidFill>
              </a:rPr>
              <a:t>13 total launches (10 successful landings, 3 failures / expended, 76.9% success rate). Polar orbit specialty.</a:t>
            </a:r>
          </a:p>
          <a:p>
            <a:pPr>
              <a:defRPr b="1" sz="1000">
                <a:solidFill>
                  <a:srgbClr val="1A2F5A"/>
                </a:solidFill>
              </a:defRPr>
            </a:pPr>
            <a:r>
              <a:t>📍  Total Launch Sites: </a:t>
            </a:r>
            <a:r>
              <a:rPr b="0" sz="850">
                <a:solidFill>
                  <a:srgbClr val="232323"/>
                </a:solidFill>
              </a:rPr>
              <a:t>3 unique launch complexes; 90 historical launches mapped.</a:t>
            </a:r>
          </a:p>
          <a:p>
            <a:pPr>
              <a:defRPr b="1" sz="1000">
                <a:solidFill>
                  <a:srgbClr val="1A2F5A"/>
                </a:solidFill>
              </a:defRPr>
            </a:pPr>
            <a:r>
              <a:t>📍  MarkerCluster &amp; Color Coding: </a:t>
            </a:r>
            <a:r>
              <a:rPr b="0" sz="850">
                <a:solidFill>
                  <a:srgbClr val="232323"/>
                </a:solidFill>
              </a:rPr>
              <a:t>Folium MarkerCluster aggregates all 90 launches: Green icon (Class=1, 60 successes); Red icon (Class=0, 30 failures).</a:t>
            </a:r>
          </a:p>
          <a:p>
            <a:pPr>
              <a:defRPr b="1" sz="1000">
                <a:solidFill>
                  <a:srgbClr val="1A2F5A"/>
                </a:solidFill>
              </a:defRPr>
            </a:pPr>
            <a:r>
              <a:t>📍  Artifact &amp; Code: </a:t>
            </a:r>
            <a:r>
              <a:rPr b="0" sz="850">
                <a:solidFill>
                  <a:srgbClr val="232323"/>
                </a:solidFill>
              </a:rPr>
              <a:t>visuals/folium/launch_sites_map.html. Built via notebooks/06_folium_launch_map.ipynb &amp; src/generate_map.py.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Geospatial Analysis: Haversine Distances &amp; Public Safety Corridors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notebooks/06_folium_launch_map.ipynb</a:t>
            </a:r>
          </a:p>
        </p:txBody>
      </p:sp>
      <p:sp>
        <p:nvSpPr>
          <p:cNvPr id="8" name="Rounded Rectangle 7"/>
          <p:cNvSpPr/>
          <p:nvPr/>
        </p:nvSpPr>
        <p:spPr>
          <a:xfrm>
            <a:off x="7315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25880"/>
            <a:ext cx="4937760" cy="4846320"/>
          </a:xfrm>
          <a:prstGeom prst="rect">
            <a:avLst/>
          </a:prstGeom>
          <a:noFill/>
        </p:spPr>
        <p:txBody>
          <a:bodyPr wrap="square">
            <a:spAutoFit/>
          </a:bodyPr>
          <a:lstStyle/>
          <a:p>
            <a:pPr>
              <a:defRPr sz="1300" b="1">
                <a:solidFill>
                  <a:srgbClr val="0B1B3D"/>
                </a:solidFill>
              </a:defRPr>
            </a:pPr>
            <a:r>
              <a:t>Geodesic Haversine Distance Table</a:t>
            </a:r>
          </a:p>
          <a:p>
            <a:pPr>
              <a:defRPr b="1" sz="1000">
                <a:solidFill>
                  <a:srgbClr val="1A2F5A"/>
                </a:solidFill>
              </a:defRPr>
            </a:pPr>
            <a:r>
              <a:t>★ CCAFS SLC 40 (28.5623°N, 80.5774°W):</a:t>
            </a:r>
            <a:br/>
            <a:r>
              <a:rPr b="0" sz="850">
                <a:solidFill>
                  <a:srgbClr val="232323"/>
                </a:solidFill>
              </a:rPr>
              <a:t>• Coastline: 0.95 km (Atlantic Ocean)
• Highway: 1.25 km (NASA Causeway / Samuel C. Phillips)
• Railway: 1.15 km (Titan IV railroad spur)
• Nearest City: 18.9 km (Cape Canaveral City)</a:t>
            </a:r>
          </a:p>
          <a:p>
            <a:pPr>
              <a:defRPr b="1" sz="1000">
                <a:solidFill>
                  <a:srgbClr val="1A2F5A"/>
                </a:solidFill>
              </a:defRPr>
            </a:pPr>
            <a:r>
              <a:t>★ KSC LC 39A (28.5733°N, 80.6469°W):</a:t>
            </a:r>
            <a:br/>
            <a:r>
              <a:rPr b="0" sz="850">
                <a:solidFill>
                  <a:srgbClr val="232323"/>
                </a:solidFill>
              </a:rPr>
              <a:t>• Coastline: 1.12 km (Atlantic Ocean)
• Highway: 1.62 km (Kennedy Pkwy)
• Railway: 1.34 km (NASA Railroad)
• Nearest City: 16.5 km (Titusville)</a:t>
            </a:r>
          </a:p>
          <a:p>
            <a:pPr>
              <a:defRPr b="1" sz="1000">
                <a:solidFill>
                  <a:srgbClr val="1A2F5A"/>
                </a:solidFill>
              </a:defRPr>
            </a:pPr>
            <a:r>
              <a:t>★ VAFB SLC 4E (34.6328°N, 120.6107°W):</a:t>
            </a:r>
            <a:br/>
            <a:r>
              <a:rPr b="0" sz="850">
                <a:solidFill>
                  <a:srgbClr val="232323"/>
                </a:solidFill>
              </a:rPr>
              <a:t>• Coastline: 1.48 km (Pacific Ocean)
• Highway: 1.85 km (Coast Rd)
• Railway: 1.42 km (Union Pacific Railroad)
• Nearest City: 14.8 km (Lompoc)</a:t>
            </a:r>
          </a:p>
        </p:txBody>
      </p:sp>
      <p:sp>
        <p:nvSpPr>
          <p:cNvPr id="10" name="Rounded Rectangle 9"/>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37760" cy="4846320"/>
          </a:xfrm>
          <a:prstGeom prst="rect">
            <a:avLst/>
          </a:prstGeom>
          <a:noFill/>
        </p:spPr>
        <p:txBody>
          <a:bodyPr wrap="square">
            <a:spAutoFit/>
          </a:bodyPr>
          <a:lstStyle/>
          <a:p>
            <a:pPr>
              <a:defRPr sz="1300" b="1">
                <a:solidFill>
                  <a:srgbClr val="0B1B3D"/>
                </a:solidFill>
              </a:defRPr>
            </a:pPr>
            <a:r>
              <a:t>Strategic Rationale of Site Positioning</a:t>
            </a:r>
          </a:p>
          <a:p>
            <a:pPr>
              <a:defRPr b="1" sz="1000">
                <a:solidFill>
                  <a:srgbClr val="2E7D32"/>
                </a:solidFill>
              </a:defRPr>
            </a:pPr>
            <a:r>
              <a:t>✔  Coastal Proximity (&lt;1.5 km): </a:t>
            </a:r>
            <a:r>
              <a:rPr b="0" sz="850">
                <a:solidFill>
                  <a:srgbClr val="232323"/>
                </a:solidFill>
              </a:rPr>
              <a:t>Every launchpad is sited within 1.5 km of open ocean. Eastward orbital trajectories over the Atlantic (Florida) and southward trajectories over the Pacific (California) guarantee that catastrophic booster failures impact water rather than populated land.</a:t>
            </a:r>
          </a:p>
          <a:p>
            <a:pPr>
              <a:defRPr b="1" sz="1000">
                <a:solidFill>
                  <a:srgbClr val="2E7D32"/>
                </a:solidFill>
              </a:defRPr>
            </a:pPr>
            <a:r>
              <a:t>✔  Logistical Proximity (1-2 km): </a:t>
            </a:r>
            <a:r>
              <a:rPr b="0" sz="850">
                <a:solidFill>
                  <a:srgbClr val="232323"/>
                </a:solidFill>
              </a:rPr>
              <a:t>Direct access to heavy railroads and NASA causeway highways enables overland transport of 70-meter Falcon 9 first-stage cores from manufacturing in Hawthorne, CA.</a:t>
            </a:r>
          </a:p>
          <a:p>
            <a:pPr>
              <a:defRPr b="1" sz="1000">
                <a:solidFill>
                  <a:srgbClr val="2E7D32"/>
                </a:solidFill>
              </a:defRPr>
            </a:pPr>
            <a:r>
              <a:t>✔  Urban Buffer Zones (15-35 km): </a:t>
            </a:r>
            <a:r>
              <a:rPr b="0" sz="850">
                <a:solidFill>
                  <a:srgbClr val="232323"/>
                </a:solidFill>
              </a:rPr>
              <a:t>All pads maintain a strict 15-35 km buffer from urban city centers (Titusville, Cape Canaveral, Lompoc), protecting civilian populations from acoustic shockwaves and blast hazards.</a:t>
            </a:r>
          </a:p>
          <a:p>
            <a:pPr>
              <a:defRPr b="1" sz="1000">
                <a:solidFill>
                  <a:srgbClr val="2E7D32"/>
                </a:solidFill>
              </a:defRPr>
            </a:pPr>
            <a:r>
              <a:t>✔  Equatorial Rotational Boost: </a:t>
            </a:r>
            <a:r>
              <a:rPr b="0" sz="850">
                <a:solidFill>
                  <a:srgbClr val="232323"/>
                </a:solidFill>
              </a:rPr>
              <a:t>Cape Canaveral (28.56°N) provides an additional ~410 m/s velocity boost from Earth's rotation for easterly launches, maximizing payload capacity.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Interactive Dashboard: Plotly Dash Analytics Console</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dashboard/app.py</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7 Dashboard Script (Plotly Dash Web Application): </a:t>
            </a:r>
            <a:r>
              <a:rPr b="0" sz="850">
                <a:solidFill>
                  <a:srgbClr val="0B1B3D"/>
                </a:solidFill>
              </a:rPr>
              <a:t>https://github.com/buildwithneel/Coursera-IBM-data-science-course/blob/main/dashboard/app.py</a:t>
            </a:r>
          </a:p>
        </p:txBody>
      </p:sp>
      <p:pic>
        <p:nvPicPr>
          <p:cNvPr id="10" name="Picture 9" descr="dashboard_screenshot.png"/>
          <p:cNvPicPr>
            <a:picLocks noChangeAspect="1"/>
          </p:cNvPicPr>
          <p:nvPr/>
        </p:nvPicPr>
        <p:blipFill>
          <a:blip r:embed="rId2"/>
          <a:stretch>
            <a:fillRect/>
          </a:stretch>
        </p:blipFill>
        <p:spPr>
          <a:xfrm>
            <a:off x="731520" y="1645920"/>
            <a:ext cx="5669280" cy="5898072"/>
          </a:xfrm>
          <a:prstGeom prst="rect">
            <a:avLst/>
          </a:prstGeom>
        </p:spPr>
      </p:pic>
      <p:sp>
        <p:nvSpPr>
          <p:cNvPr id="11" name="Rounded Rectangle 10"/>
          <p:cNvSpPr/>
          <p:nvPr/>
        </p:nvSpPr>
        <p:spPr>
          <a:xfrm>
            <a:off x="6583680" y="1645920"/>
            <a:ext cx="484632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719072"/>
            <a:ext cx="4572000" cy="4434840"/>
          </a:xfrm>
          <a:prstGeom prst="rect">
            <a:avLst/>
          </a:prstGeom>
          <a:noFill/>
        </p:spPr>
        <p:txBody>
          <a:bodyPr wrap="square">
            <a:spAutoFit/>
          </a:bodyPr>
          <a:lstStyle/>
          <a:p>
            <a:pPr>
              <a:defRPr sz="1200" b="1">
                <a:solidFill>
                  <a:srgbClr val="0B1B3D"/>
                </a:solidFill>
              </a:defRPr>
            </a:pPr>
            <a:r>
              <a:t>Operational Dashboard Architecture &amp; Dynamic UI</a:t>
            </a:r>
          </a:p>
          <a:p>
            <a:pPr>
              <a:defRPr b="1" sz="1000">
                <a:solidFill>
                  <a:srgbClr val="1A2F5A"/>
                </a:solidFill>
              </a:defRPr>
            </a:pPr>
            <a:r>
              <a:t>• Launch Site Dropdown: </a:t>
            </a:r>
            <a:r>
              <a:rPr b="0" sz="850">
                <a:solidFill>
                  <a:srgbClr val="232323"/>
                </a:solidFill>
              </a:rPr>
              <a:t>Allows users to filter across ALL sites or isolate CCAFS SLC 40, KSC LC 39A, or VAFB SLC 4E.</a:t>
            </a:r>
          </a:p>
          <a:p>
            <a:pPr>
              <a:defRPr b="1" sz="1000">
                <a:solidFill>
                  <a:srgbClr val="1A2F5A"/>
                </a:solidFill>
              </a:defRPr>
            </a:pPr>
            <a:r>
              <a:t>• Payload Range Slider: </a:t>
            </a:r>
            <a:r>
              <a:rPr b="0" sz="850">
                <a:solidFill>
                  <a:srgbClr val="232323"/>
                </a:solidFill>
              </a:rPr>
              <a:t>Interactive slider from 0 kg to 16,000 kg with 2,000 kg tick intervals for payload threshold exploration.</a:t>
            </a:r>
          </a:p>
          <a:p>
            <a:pPr>
              <a:defRPr b="1" sz="1000">
                <a:solidFill>
                  <a:srgbClr val="1A2F5A"/>
                </a:solidFill>
              </a:defRPr>
            </a:pPr>
            <a:r>
              <a:t>• Outcome Filter Radio: </a:t>
            </a:r>
            <a:r>
              <a:rPr b="0" sz="850">
                <a:solidFill>
                  <a:srgbClr val="232323"/>
                </a:solidFill>
              </a:rPr>
              <a:t>Filter flights by All Outcomes, Successes Only, or Failures Only.</a:t>
            </a:r>
          </a:p>
          <a:p>
            <a:pPr>
              <a:defRPr b="1" sz="1000">
                <a:solidFill>
                  <a:srgbClr val="1A2F5A"/>
                </a:solidFill>
              </a:defRPr>
            </a:pPr>
            <a:r>
              <a:t>• Dynamic Reactive KPIs: </a:t>
            </a:r>
            <a:r>
              <a:rPr b="0" sz="850">
                <a:solidFill>
                  <a:srgbClr val="232323"/>
                </a:solidFill>
              </a:rPr>
              <a:t>Real-time calculation of Selected Missions count, Overall Success %, Successful Landings count, and Mean Payload mass.</a:t>
            </a:r>
          </a:p>
          <a:p>
            <a:pPr>
              <a:defRPr b="1" sz="1000">
                <a:solidFill>
                  <a:srgbClr val="1A2F5A"/>
                </a:solidFill>
              </a:defRPr>
            </a:pPr>
            <a:r>
              <a:t>• Reactive Charts: </a:t>
            </a:r>
            <a:r>
              <a:rPr b="0" sz="850">
                <a:solidFill>
                  <a:srgbClr val="232323"/>
                </a:solidFill>
              </a:rPr>
              <a:t>Updates Donut outcome distribution, Payload vs Flight scatter plot with Class color coding, and stacked Yearly Cadence bars.</a:t>
            </a:r>
          </a:p>
          <a:p>
            <a:pPr>
              <a:defRPr b="1" sz="1000">
                <a:solidFill>
                  <a:srgbClr val="1A2F5A"/>
                </a:solidFill>
              </a:defRPr>
            </a:pPr>
            <a:r>
              <a:t>• Implementation: </a:t>
            </a:r>
            <a:r>
              <a:rPr b="0" sz="850">
                <a:solidFill>
                  <a:srgbClr val="232323"/>
                </a:solidFill>
              </a:rPr>
              <a:t>Standalone Flask/Dash application in dashboard/app.py running locally on port 8050.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Predictive Analysis: Machine Learning Methodology &amp; Leakage Control</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notebooks/07_machine_learning.ipynb</a:t>
            </a:r>
          </a:p>
        </p:txBody>
      </p:sp>
      <p:sp>
        <p:nvSpPr>
          <p:cNvPr id="8" name="Rounded Rectangle 7"/>
          <p:cNvSpPr/>
          <p:nvPr/>
        </p:nvSpPr>
        <p:spPr>
          <a:xfrm>
            <a:off x="731520" y="1188720"/>
            <a:ext cx="10698480" cy="384048"/>
          </a:xfrm>
          <a:prstGeom prst="roundRect">
            <a:avLst/>
          </a:prstGeom>
          <a:solidFill>
            <a:srgbClr val="EAF2FA"/>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25296"/>
            <a:ext cx="10515600" cy="310896"/>
          </a:xfrm>
          <a:prstGeom prst="rect">
            <a:avLst/>
          </a:prstGeom>
          <a:noFill/>
        </p:spPr>
        <p:txBody>
          <a:bodyPr wrap="square">
            <a:spAutoFit/>
          </a:bodyPr>
          <a:lstStyle/>
          <a:p>
            <a:pPr>
              <a:defRPr sz="950" b="1">
                <a:solidFill>
                  <a:srgbClr val="0E7490"/>
                </a:solidFill>
              </a:defRPr>
            </a:pPr>
            <a:r>
              <a:t>🔗 Lab 8 Notebook Link (Machine Learning Classification): </a:t>
            </a:r>
            <a:r>
              <a:rPr b="0" sz="850">
                <a:solidFill>
                  <a:srgbClr val="0B1B3D"/>
                </a:solidFill>
              </a:rPr>
              <a:t>https://github.com/buildwithneel/Coursera-IBM-data-science-course/blob/main/notebooks/07_machine_learning.ipynb</a:t>
            </a:r>
          </a:p>
        </p:txBody>
      </p:sp>
      <p:sp>
        <p:nvSpPr>
          <p:cNvPr id="10" name="Rounded Rectangle 9"/>
          <p:cNvSpPr/>
          <p:nvPr/>
        </p:nvSpPr>
        <p:spPr>
          <a:xfrm>
            <a:off x="7315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19072"/>
            <a:ext cx="4937760" cy="4434840"/>
          </a:xfrm>
          <a:prstGeom prst="rect">
            <a:avLst/>
          </a:prstGeom>
          <a:noFill/>
        </p:spPr>
        <p:txBody>
          <a:bodyPr wrap="square">
            <a:spAutoFit/>
          </a:bodyPr>
          <a:lstStyle/>
          <a:p>
            <a:pPr>
              <a:defRPr sz="1200" b="1">
                <a:solidFill>
                  <a:srgbClr val="0B1B3D"/>
                </a:solidFill>
              </a:defRPr>
            </a:pPr>
            <a:r>
              <a:t>Data Preparation &amp; Leakage Prevention</a:t>
            </a:r>
          </a:p>
          <a:p>
            <a:pPr>
              <a:defRPr b="1" sz="950">
                <a:solidFill>
                  <a:srgbClr val="1A2F5A"/>
                </a:solidFill>
              </a:defRPr>
            </a:pPr>
            <a:r>
              <a:t>⚙ Feature Matrix (X): </a:t>
            </a:r>
            <a:r>
              <a:rPr b="0" sz="850">
                <a:solidFill>
                  <a:srgbClr val="232323"/>
                </a:solidFill>
              </a:rPr>
              <a:t>80 independent features derived from FlightNumber, PayloadMass, Flights, GridFins, Reused, Legs, Block, and one-hot encoded dummy variables for Orbit, LaunchSite, LandingPad, and Serial.</a:t>
            </a:r>
          </a:p>
          <a:p>
            <a:pPr>
              <a:defRPr b="1" sz="950">
                <a:solidFill>
                  <a:srgbClr val="1A2F5A"/>
                </a:solidFill>
              </a:defRPr>
            </a:pPr>
            <a:r>
              <a:t>⚙ Target Vector (Y): </a:t>
            </a:r>
            <a:r>
              <a:rPr b="0" sz="850">
                <a:solidFill>
                  <a:srgbClr val="232323"/>
                </a:solidFill>
              </a:rPr>
              <a:t>Binary outcome Class: 1 = Successful Landing (60), 0 = Failure / Expended (30).</a:t>
            </a:r>
          </a:p>
          <a:p>
            <a:pPr>
              <a:defRPr b="1" sz="950">
                <a:solidFill>
                  <a:srgbClr val="1A2F5A"/>
                </a:solidFill>
              </a:defRPr>
            </a:pPr>
            <a:r>
              <a:t>⚙ Train/Test Partitioning: </a:t>
            </a:r>
            <a:r>
              <a:rPr b="0" sz="850">
                <a:solidFill>
                  <a:srgbClr val="232323"/>
                </a:solidFill>
              </a:rPr>
              <a:t>Split into 80% training set (N=72) and 20% held-out test set (N=18) using stratified sampling (stratify=Y, random_state=42).</a:t>
            </a:r>
          </a:p>
          <a:p>
            <a:pPr>
              <a:defRPr b="1" sz="950">
                <a:solidFill>
                  <a:srgbClr val="1A2F5A"/>
                </a:solidFill>
              </a:defRPr>
            </a:pPr>
            <a:r>
              <a:t>⚙ Strict Leakage Prevention: </a:t>
            </a:r>
            <a:r>
              <a:rPr b="0" sz="850">
                <a:solidFill>
                  <a:srgbClr val="232323"/>
                </a:solidFill>
              </a:rPr>
              <a:t>StandardScaler fitted strictly on training data (X_train). Test data (X_test) transformed using scaler parameters from training data without refitting.</a:t>
            </a:r>
          </a:p>
          <a:p>
            <a:pPr>
              <a:defRPr b="1" sz="950">
                <a:solidFill>
                  <a:srgbClr val="1A2F5A"/>
                </a:solidFill>
              </a:defRPr>
            </a:pPr>
            <a:r>
              <a:t>⚙ Cross-Validation: </a:t>
            </a:r>
            <a:r>
              <a:rPr b="0" sz="850">
                <a:solidFill>
                  <a:srgbClr val="232323"/>
                </a:solidFill>
              </a:rPr>
              <a:t>10-Fold StratifiedKFold cross-validation within GridSearchCV to maintain class balance across all validation folds.</a:t>
            </a:r>
          </a:p>
        </p:txBody>
      </p:sp>
      <p:sp>
        <p:nvSpPr>
          <p:cNvPr id="12" name="Rounded Rectangle 11"/>
          <p:cNvSpPr/>
          <p:nvPr/>
        </p:nvSpPr>
        <p:spPr>
          <a:xfrm>
            <a:off x="6217920" y="1645920"/>
            <a:ext cx="5212080" cy="461772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19072"/>
            <a:ext cx="4937760" cy="4434840"/>
          </a:xfrm>
          <a:prstGeom prst="rect">
            <a:avLst/>
          </a:prstGeom>
          <a:noFill/>
        </p:spPr>
        <p:txBody>
          <a:bodyPr wrap="square">
            <a:spAutoFit/>
          </a:bodyPr>
          <a:lstStyle/>
          <a:p>
            <a:pPr>
              <a:defRPr sz="1200" b="1">
                <a:solidFill>
                  <a:srgbClr val="0B1B3D"/>
                </a:solidFill>
              </a:defRPr>
            </a:pPr>
            <a:r>
              <a:t>Algorithms &amp; Hyperparameter Grids</a:t>
            </a:r>
          </a:p>
          <a:p>
            <a:pPr>
              <a:defRPr b="1" sz="950">
                <a:solidFill>
                  <a:srgbClr val="2E7D32"/>
                </a:solidFill>
              </a:defRPr>
            </a:pPr>
            <a:r>
              <a:t>✔ Logistic Regression: </a:t>
            </a:r>
            <a:r>
              <a:rPr b="0" sz="850">
                <a:solidFill>
                  <a:srgbClr val="232323"/>
                </a:solidFill>
              </a:rPr>
              <a:t>Tuned regularization parameter C: [0.01, 0.1, 1.0], penalty: 'l2', solver: 'lbfgs'.</a:t>
            </a:r>
          </a:p>
          <a:p>
            <a:pPr>
              <a:defRPr b="1" sz="950">
                <a:solidFill>
                  <a:srgbClr val="2E7D32"/>
                </a:solidFill>
              </a:defRPr>
            </a:pPr>
            <a:r>
              <a:t>✔ Support Vector Machine (SVM): </a:t>
            </a:r>
            <a:r>
              <a:rPr b="0" sz="850">
                <a:solidFill>
                  <a:srgbClr val="232323"/>
                </a:solidFill>
              </a:rPr>
              <a:t>Tuned kernel: ['linear', 'rbf', 'sigmoid'], regularization C: [0.01, 0.1, 1.0, 10.0], gamma: ['scale', 'auto'].</a:t>
            </a:r>
          </a:p>
          <a:p>
            <a:pPr>
              <a:defRPr b="1" sz="950">
                <a:solidFill>
                  <a:srgbClr val="2E7D32"/>
                </a:solidFill>
              </a:defRPr>
            </a:pPr>
            <a:r>
              <a:t>✔ Decision Tree Classifier: </a:t>
            </a:r>
            <a:r>
              <a:rPr b="0" sz="850">
                <a:solidFill>
                  <a:srgbClr val="232323"/>
                </a:solidFill>
              </a:rPr>
              <a:t>Tuned splitting criterion: ['gini', 'entropy'], splitter: ['best', 'random'], max_depth: [2, 4, 6, 8], min_samples_split: [2, 5], min_samples_leaf: [1, 2].</a:t>
            </a:r>
          </a:p>
          <a:p>
            <a:pPr>
              <a:defRPr b="1" sz="950">
                <a:solidFill>
                  <a:srgbClr val="2E7D32"/>
                </a:solidFill>
              </a:defRPr>
            </a:pPr>
            <a:r>
              <a:t>✔ K-Nearest Neighbors (KNN): </a:t>
            </a:r>
            <a:r>
              <a:rPr b="0" sz="850">
                <a:solidFill>
                  <a:srgbClr val="232323"/>
                </a:solidFill>
              </a:rPr>
              <a:t>Tuned n_neighbors: [1 to 10], algorithm: ['auto', 'ball_tree', 'kd_tree'], distance metric parameter p: [1 (Manhattan), 2 (Euclidean)].</a:t>
            </a:r>
          </a:p>
          <a:p>
            <a:pPr>
              <a:defRPr b="1" sz="950">
                <a:solidFill>
                  <a:srgbClr val="2E7D32"/>
                </a:solidFill>
              </a:defRPr>
            </a:pPr>
            <a:r>
              <a:t>✔ Evaluation Strategy: </a:t>
            </a:r>
            <a:r>
              <a:rPr b="0" sz="850">
                <a:solidFill>
                  <a:srgbClr val="232323"/>
                </a:solidFill>
              </a:rPr>
              <a:t>Models compared on CV accuracy, Test accuracy, Precision, Recall, F1-score, and Confusion Matrices.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Predictive Analysis: Detailed Model Comparison Table &amp; Hyperparameters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notebooks/07_machine_learning.ipynb</a:t>
            </a:r>
          </a:p>
        </p:txBody>
      </p:sp>
      <p:pic>
        <p:nvPicPr>
          <p:cNvPr id="8" name="Picture 7" descr="model_comparison.png"/>
          <p:cNvPicPr>
            <a:picLocks noChangeAspect="1"/>
          </p:cNvPicPr>
          <p:nvPr/>
        </p:nvPicPr>
        <p:blipFill>
          <a:blip r:embed="rId2"/>
          <a:stretch>
            <a:fillRect/>
          </a:stretch>
        </p:blipFill>
        <p:spPr>
          <a:xfrm>
            <a:off x="731520" y="1234440"/>
            <a:ext cx="5212080" cy="3127248"/>
          </a:xfrm>
          <a:prstGeom prst="rect">
            <a:avLst/>
          </a:prstGeom>
        </p:spPr>
      </p:pic>
      <p:sp>
        <p:nvSpPr>
          <p:cNvPr id="9" name="Rounded Rectangle 8"/>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4937760" cy="4846320"/>
          </a:xfrm>
          <a:prstGeom prst="rect">
            <a:avLst/>
          </a:prstGeom>
          <a:noFill/>
        </p:spPr>
        <p:txBody>
          <a:bodyPr wrap="square">
            <a:spAutoFit/>
          </a:bodyPr>
          <a:lstStyle/>
          <a:p>
            <a:pPr>
              <a:defRPr sz="1300" b="1">
                <a:solidFill>
                  <a:srgbClr val="0B1B3D"/>
                </a:solidFill>
              </a:defRPr>
            </a:pPr>
            <a:r>
              <a:t>Comprehensive Model Comparison Matrix</a:t>
            </a:r>
          </a:p>
          <a:p>
            <a:pPr>
              <a:defRPr b="1" sz="950">
                <a:solidFill>
                  <a:srgbClr val="1A2F5A"/>
                </a:solidFill>
              </a:defRPr>
            </a:pPr>
            <a:r>
              <a:t>★ K-Nearest Neighbors (KNN) - WINNER:</a:t>
            </a:r>
            <a:br/>
            <a:r>
              <a:rPr b="0" sz="850">
                <a:solidFill>
                  <a:srgbClr val="232323"/>
                </a:solidFill>
              </a:rPr>
              <a:t>• Best Params: {'algorithm': 'auto', 'n_neighbors': 3, 'p': 1}
• 10-Fold CV Train Accuracy: 86.43%
• Test Accuracy: 83.33% | F1-Score: 0.889
• Precision: 0.800 | Recall: 1.000 | ROC-AUC: 0.771</a:t>
            </a:r>
          </a:p>
          <a:p>
            <a:pPr>
              <a:defRPr b="1" sz="950">
                <a:solidFill>
                  <a:srgbClr val="1A2F5A"/>
                </a:solidFill>
              </a:defRPr>
            </a:pPr>
            <a:r>
              <a:t>★ Logistic Regression (Tied Best):</a:t>
            </a:r>
            <a:br/>
            <a:r>
              <a:rPr b="0" sz="850">
                <a:solidFill>
                  <a:srgbClr val="232323"/>
                </a:solidFill>
              </a:rPr>
              <a:t>• Best Params: {'C': 0.01, 'penalty': 'l2', 'solver': 'lbfgs'}
• 10-Fold CV Train Accuracy: 85.00%
• Test Accuracy: 83.33% | F1-Score: 0.889
• Precision: 0.800 | Recall: 1.000 | ROC-AUC: 0.833</a:t>
            </a:r>
          </a:p>
          <a:p>
            <a:pPr>
              <a:defRPr b="1" sz="950">
                <a:solidFill>
                  <a:srgbClr val="1A2F5A"/>
                </a:solidFill>
              </a:defRPr>
            </a:pPr>
            <a:r>
              <a:t>★ Support Vector Machine (SVM):</a:t>
            </a:r>
            <a:br/>
            <a:r>
              <a:rPr b="0" sz="850">
                <a:solidFill>
                  <a:srgbClr val="232323"/>
                </a:solidFill>
              </a:rPr>
              <a:t>• Best Params: {'C': 0.01, 'gamma': 'scale', 'kernel': 'linear'}
• 10-Fold CV Train Accuracy: 86.43%
• Test Accuracy: 77.78% | F1-Score: 0.857
• Precision: 0.750 | Recall: 1.000 | ROC-AUC: 0.931</a:t>
            </a:r>
          </a:p>
          <a:p>
            <a:pPr>
              <a:defRPr b="1" sz="950">
                <a:solidFill>
                  <a:srgbClr val="1A2F5A"/>
                </a:solidFill>
              </a:defRPr>
            </a:pPr>
            <a:r>
              <a:t>★ Decision Tree Classifier:</a:t>
            </a:r>
            <a:br/>
            <a:r>
              <a:rPr b="0" sz="850">
                <a:solidFill>
                  <a:srgbClr val="232323"/>
                </a:solidFill>
              </a:rPr>
              <a:t>• Best Params: {'criterion': 'gini', 'max_depth': 4, 'min_samples_leaf': 2, 'min_samples_split': 5}
• 10-Fold CV Train Accuracy: 83.57%
• Test Accuracy: 77.78% | F1-Score: 0.846
• Precision: 0.786 | Recall: 0.917 | ROC-AUC: 0.708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Predictive Analysis: Confusion Matrix Breakdown &amp; Error Analysis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notebooks/07_machine_learning.ipynb</a:t>
            </a:r>
          </a:p>
        </p:txBody>
      </p:sp>
      <p:pic>
        <p:nvPicPr>
          <p:cNvPr id="8" name="Picture 7" descr="confusion_matrices.png"/>
          <p:cNvPicPr>
            <a:picLocks noChangeAspect="1"/>
          </p:cNvPicPr>
          <p:nvPr/>
        </p:nvPicPr>
        <p:blipFill>
          <a:blip r:embed="rId2"/>
          <a:stretch>
            <a:fillRect/>
          </a:stretch>
        </p:blipFill>
        <p:spPr>
          <a:xfrm>
            <a:off x="731520" y="1234440"/>
            <a:ext cx="5212080" cy="4413532"/>
          </a:xfrm>
          <a:prstGeom prst="rect">
            <a:avLst/>
          </a:prstGeom>
        </p:spPr>
      </p:pic>
      <p:sp>
        <p:nvSpPr>
          <p:cNvPr id="9" name="Rounded Rectangle 8"/>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4937760" cy="4846320"/>
          </a:xfrm>
          <a:prstGeom prst="rect">
            <a:avLst/>
          </a:prstGeom>
          <a:noFill/>
        </p:spPr>
        <p:txBody>
          <a:bodyPr wrap="square">
            <a:spAutoFit/>
          </a:bodyPr>
          <a:lstStyle/>
          <a:p>
            <a:pPr>
              <a:defRPr sz="1300" b="1">
                <a:solidFill>
                  <a:srgbClr val="0B1B3D"/>
                </a:solidFill>
              </a:defRPr>
            </a:pPr>
            <a:r>
              <a:t>Detailed Test Confusion Matrix Breakdown (N=18)</a:t>
            </a:r>
          </a:p>
          <a:p>
            <a:pPr>
              <a:defRPr b="1" sz="950">
                <a:solidFill>
                  <a:srgbClr val="2E7D32"/>
                </a:solidFill>
              </a:defRPr>
            </a:pPr>
            <a:r>
              <a:t>✔ KNN Confusion Matrix:</a:t>
            </a:r>
            <a:br/>
            <a:r>
              <a:rPr b="0" sz="850">
                <a:solidFill>
                  <a:srgbClr val="232323"/>
                </a:solidFill>
              </a:rPr>
              <a:t>• True Positives (TP): 12 | True Negatives (TN): 3
• False Positives (FP): 3 | False Negatives (FN): 0
• Perfect Recall (1.000) on successful landings; no missed recoveries.</a:t>
            </a:r>
          </a:p>
          <a:p>
            <a:pPr>
              <a:defRPr b="1" sz="950">
                <a:solidFill>
                  <a:srgbClr val="2E7D32"/>
                </a:solidFill>
              </a:defRPr>
            </a:pPr>
            <a:r>
              <a:t>✔ Logistic Regression Confusion Matrix:</a:t>
            </a:r>
            <a:br/>
            <a:r>
              <a:rPr b="0" sz="850">
                <a:solidFill>
                  <a:srgbClr val="232323"/>
                </a:solidFill>
              </a:rPr>
              <a:t>• True Positives (TP): 12 | True Negatives (TN): 3
• False Positives (FP): 3 | False Negatives (FN): 0
• Exactly matches KNN's optimal classification profile.</a:t>
            </a:r>
          </a:p>
          <a:p>
            <a:pPr>
              <a:defRPr b="1" sz="950">
                <a:solidFill>
                  <a:srgbClr val="2E7D32"/>
                </a:solidFill>
              </a:defRPr>
            </a:pPr>
            <a:r>
              <a:t>✔ SVM Confusion Matrix:</a:t>
            </a:r>
            <a:br/>
            <a:r>
              <a:rPr b="0" sz="850">
                <a:solidFill>
                  <a:srgbClr val="232323"/>
                </a:solidFill>
              </a:rPr>
              <a:t>• True Positives (TP): 12 | True Negatives (TN): 2
• False Positives (FP): 4 | False Negatives (FN): 0</a:t>
            </a:r>
          </a:p>
          <a:p>
            <a:pPr>
              <a:defRPr b="1" sz="950">
                <a:solidFill>
                  <a:srgbClr val="2E7D32"/>
                </a:solidFill>
              </a:defRPr>
            </a:pPr>
            <a:r>
              <a:t>✔ Decision Tree Confusion Matrix:</a:t>
            </a:r>
            <a:br/>
            <a:r>
              <a:rPr b="0" sz="850">
                <a:solidFill>
                  <a:srgbClr val="232323"/>
                </a:solidFill>
              </a:rPr>
              <a:t>• True Positives (TP): 11 | True Negatives (TN): 3
• False Positives (FP): 3 | False Negatives (FN): 1</a:t>
            </a:r>
          </a:p>
          <a:p>
            <a:pPr>
              <a:defRPr b="1" sz="950">
                <a:solidFill>
                  <a:srgbClr val="2E7D32"/>
                </a:solidFill>
              </a:defRPr>
            </a:pPr>
            <a:r>
              <a:t>✔ Commercial Error Impact:</a:t>
            </a:r>
            <a:br/>
            <a:r>
              <a:rPr b="0" sz="850">
                <a:solidFill>
                  <a:srgbClr val="232323"/>
                </a:solidFill>
              </a:rPr>
              <a:t>In rocket bidding, False Negatives (predicting failure when booster lands) cause competitors to miss discounting windows. KNN and Logistic Regression achieve ZERO False Negatives (FN=0, Recall=100%).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Feature Importance: Mechanical &amp; Orbital Decision Drivers</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src/train_model.py</a:t>
            </a:r>
          </a:p>
        </p:txBody>
      </p:sp>
      <p:pic>
        <p:nvPicPr>
          <p:cNvPr id="8" name="Picture 7" descr="feature_importance.png"/>
          <p:cNvPicPr>
            <a:picLocks noChangeAspect="1"/>
          </p:cNvPicPr>
          <p:nvPr/>
        </p:nvPicPr>
        <p:blipFill>
          <a:blip r:embed="rId2"/>
          <a:stretch>
            <a:fillRect/>
          </a:stretch>
        </p:blipFill>
        <p:spPr>
          <a:xfrm>
            <a:off x="731520" y="1234440"/>
            <a:ext cx="5212080" cy="3648456"/>
          </a:xfrm>
          <a:prstGeom prst="rect">
            <a:avLst/>
          </a:prstGeom>
        </p:spPr>
      </p:pic>
      <p:sp>
        <p:nvSpPr>
          <p:cNvPr id="9" name="Rounded Rectangle 8"/>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4937760" cy="4846320"/>
          </a:xfrm>
          <a:prstGeom prst="rect">
            <a:avLst/>
          </a:prstGeom>
          <a:noFill/>
        </p:spPr>
        <p:txBody>
          <a:bodyPr wrap="square">
            <a:spAutoFit/>
          </a:bodyPr>
          <a:lstStyle/>
          <a:p>
            <a:pPr>
              <a:defRPr sz="1300" b="1">
                <a:solidFill>
                  <a:srgbClr val="0B1B3D"/>
                </a:solidFill>
              </a:defRPr>
            </a:pPr>
            <a:r>
              <a:t>Key Technical &amp; Operational Decision Drivers</a:t>
            </a:r>
          </a:p>
          <a:p>
            <a:pPr>
              <a:defRPr b="1" sz="1000">
                <a:solidFill>
                  <a:srgbClr val="1A2F5A"/>
                </a:solidFill>
              </a:defRPr>
            </a:pPr>
            <a:r>
              <a:t>★  GridFins &amp; Landing Legs: </a:t>
            </a:r>
            <a:r>
              <a:rPr b="0" sz="850">
                <a:solidFill>
                  <a:srgbClr val="232323"/>
                </a:solidFill>
              </a:rPr>
              <a:t>GridFins and Legs are the strongest positive predictors of recovery. Missions without landing gear or grid fins represent early expendable flights with 0% landing feasibility.</a:t>
            </a:r>
          </a:p>
          <a:p>
            <a:pPr>
              <a:defRPr b="1" sz="1000">
                <a:solidFill>
                  <a:srgbClr val="1A2F5A"/>
                </a:solidFill>
              </a:defRPr>
            </a:pPr>
            <a:r>
              <a:t>★  Booster Block Iteration (Block 5): </a:t>
            </a:r>
            <a:r>
              <a:rPr b="0" sz="850">
                <a:solidFill>
                  <a:srgbClr val="232323"/>
                </a:solidFill>
              </a:rPr>
              <a:t>Transition to Block 5 design provides bolted titanium grid fins and thermal protection upgrades, significantly elevating survival odds over Block 1-4.</a:t>
            </a:r>
          </a:p>
          <a:p>
            <a:pPr>
              <a:defRPr b="1" sz="1000">
                <a:solidFill>
                  <a:srgbClr val="1A2F5A"/>
                </a:solidFill>
              </a:defRPr>
            </a:pPr>
            <a:r>
              <a:t>★  Payload Mass &amp; Orbit Demands: </a:t>
            </a:r>
            <a:r>
              <a:rPr b="0" sz="850">
                <a:solidFill>
                  <a:srgbClr val="232323"/>
                </a:solidFill>
              </a:rPr>
              <a:t>High payload mass coupled with high-energy GTO orbits exhibits negative recovery coefficients due to constrained propellant reserves for landing burns.</a:t>
            </a:r>
          </a:p>
          <a:p>
            <a:pPr>
              <a:defRPr b="1" sz="1000">
                <a:solidFill>
                  <a:srgbClr val="1A2F5A"/>
                </a:solidFill>
              </a:defRPr>
            </a:pPr>
            <a:r>
              <a:t>★  Reused Count &amp; Flight Sequence: </a:t>
            </a:r>
            <a:r>
              <a:rPr b="0" sz="850">
                <a:solidFill>
                  <a:srgbClr val="232323"/>
                </a:solidFill>
              </a:rPr>
              <a:t>FlightNumber and ReusedCount positively correlate with success, confirming the operational maturity learning curve of experienced flight cores.</a:t>
            </a:r>
          </a:p>
          <a:p>
            <a:pPr>
              <a:defRPr b="1" sz="1000">
                <a:solidFill>
                  <a:srgbClr val="1A2F5A"/>
                </a:solidFill>
              </a:defRPr>
            </a:pPr>
            <a:r>
              <a:t>★  Takeaway: </a:t>
            </a:r>
            <a:r>
              <a:rPr b="0" sz="850">
                <a:solidFill>
                  <a:srgbClr val="232323"/>
                </a:solidFill>
              </a:rPr>
              <a:t>Machine learning effectively captures the interaction between booster hardware configuration and orbital mechanics constraints.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Conclusions, Innovative Insights &amp; Future Roadmap</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https://github.com/buildwithneel/Coursera-IBM-data-science-course</a:t>
            </a:r>
          </a:p>
        </p:txBody>
      </p:sp>
      <p:sp>
        <p:nvSpPr>
          <p:cNvPr id="8" name="Rounded Rectangle 7"/>
          <p:cNvSpPr/>
          <p:nvPr/>
        </p:nvSpPr>
        <p:spPr>
          <a:xfrm>
            <a:off x="7315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25880"/>
            <a:ext cx="4937760" cy="4846320"/>
          </a:xfrm>
          <a:prstGeom prst="rect">
            <a:avLst/>
          </a:prstGeom>
          <a:noFill/>
        </p:spPr>
        <p:txBody>
          <a:bodyPr wrap="square">
            <a:spAutoFit/>
          </a:bodyPr>
          <a:lstStyle/>
          <a:p>
            <a:pPr>
              <a:defRPr sz="1200" b="1">
                <a:solidFill>
                  <a:srgbClr val="0B1B3D"/>
                </a:solidFill>
              </a:defRPr>
            </a:pPr>
            <a:r>
              <a:t>Conclusions &amp; Commercial Takeaways (Question 13)</a:t>
            </a:r>
          </a:p>
          <a:p>
            <a:pPr>
              <a:defRPr b="1" sz="1000">
                <a:solidFill>
                  <a:srgbClr val="1A2F5A"/>
                </a:solidFill>
              </a:defRPr>
            </a:pPr>
            <a:r>
              <a:t>🚀 Cost Asymmetry: </a:t>
            </a:r>
            <a:r>
              <a:rPr b="0" sz="850">
                <a:solidFill>
                  <a:srgbClr val="232323"/>
                </a:solidFill>
              </a:rPr>
              <a:t>SpaceX's ~$62M launch pricing versus competitors' ~$165M provides a massive ~$103M commercial advantage per flight, driven by booster recovery.</a:t>
            </a:r>
          </a:p>
          <a:p>
            <a:pPr>
              <a:defRPr b="1" sz="1000">
                <a:solidFill>
                  <a:srgbClr val="1A2F5A"/>
                </a:solidFill>
              </a:defRPr>
            </a:pPr>
            <a:r>
              <a:t>🚀 Predictive Viability: </a:t>
            </a:r>
            <a:r>
              <a:rPr b="0" sz="850">
                <a:solidFill>
                  <a:srgbClr val="232323"/>
                </a:solidFill>
              </a:rPr>
              <a:t>Supervised classification models (KNN &amp; Logistic Regression) reliably forecast booster recovery with 83.33% accuracy using pre-launch mission parameters.</a:t>
            </a:r>
          </a:p>
          <a:p>
            <a:pPr>
              <a:defRPr b="1" sz="1000">
                <a:solidFill>
                  <a:srgbClr val="1A2F5A"/>
                </a:solidFill>
              </a:defRPr>
            </a:pPr>
            <a:r>
              <a:t>🚀 Commercial Bidding Window: </a:t>
            </a:r>
            <a:r>
              <a:rPr b="0" sz="850">
                <a:solidFill>
                  <a:srgbClr val="232323"/>
                </a:solidFill>
              </a:rPr>
              <a:t>When SpaceX flies heavy payloads to GTO, recovery margins shrink (51.8% success), creating opportunities for competitor launch bidding.</a:t>
            </a:r>
          </a:p>
          <a:p>
            <a:pPr>
              <a:defRPr b="1" sz="1000">
                <a:solidFill>
                  <a:srgbClr val="1A2F5A"/>
                </a:solidFill>
              </a:defRPr>
            </a:pPr>
            <a:r>
              <a:t>🚀 Engineering Maturity: </a:t>
            </a:r>
            <a:r>
              <a:rPr b="0" sz="850">
                <a:solidFill>
                  <a:srgbClr val="232323"/>
                </a:solidFill>
              </a:rPr>
              <a:t>Falcon 9 has proven that first-stage reusability is technically and commercially sustainable over 90+ missions.</a:t>
            </a:r>
          </a:p>
        </p:txBody>
      </p:sp>
      <p:sp>
        <p:nvSpPr>
          <p:cNvPr id="10" name="Rounded Rectangle 9"/>
          <p:cNvSpPr/>
          <p:nvPr/>
        </p:nvSpPr>
        <p:spPr>
          <a:xfrm>
            <a:off x="6217920" y="1234440"/>
            <a:ext cx="52120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37760" cy="4846320"/>
          </a:xfrm>
          <a:prstGeom prst="rect">
            <a:avLst/>
          </a:prstGeom>
          <a:noFill/>
        </p:spPr>
        <p:txBody>
          <a:bodyPr wrap="square">
            <a:spAutoFit/>
          </a:bodyPr>
          <a:lstStyle/>
          <a:p>
            <a:pPr>
              <a:defRPr sz="1200" b="1">
                <a:solidFill>
                  <a:srgbClr val="0B1B3D"/>
                </a:solidFill>
              </a:defRPr>
            </a:pPr>
            <a:r>
              <a:t>Innovative Insights &amp; Future Roadmap (Questions 14 &amp; 15)</a:t>
            </a:r>
          </a:p>
          <a:p>
            <a:pPr>
              <a:defRPr b="1" sz="1000">
                <a:solidFill>
                  <a:srgbClr val="FF6F00"/>
                </a:solidFill>
              </a:defRPr>
            </a:pPr>
            <a:r>
              <a:t>★ Payload 'Sweet Spot': </a:t>
            </a:r>
            <a:r>
              <a:rPr b="0" sz="850">
                <a:solidFill>
                  <a:srgbClr val="232323"/>
                </a:solidFill>
              </a:rPr>
              <a:t>Identified that payloads between 2,000 kg and 5,300 kg represent the optimal operating window for drone ship recovery.</a:t>
            </a:r>
          </a:p>
          <a:p>
            <a:pPr>
              <a:defRPr b="1" sz="1000">
                <a:solidFill>
                  <a:srgbClr val="FF6F00"/>
                </a:solidFill>
              </a:defRPr>
            </a:pPr>
            <a:r>
              <a:t>★ Geospatial Safety Corridors: </a:t>
            </a:r>
            <a:r>
              <a:rPr b="0" sz="850">
                <a:solidFill>
                  <a:srgbClr val="232323"/>
                </a:solidFill>
              </a:rPr>
              <a:t>Quantified that all pads maintain &lt;1.5 km ocean access and &gt;15 km city buffer, optimizing launch safety corridors.</a:t>
            </a:r>
          </a:p>
          <a:p>
            <a:pPr>
              <a:defRPr b="1" sz="1000">
                <a:solidFill>
                  <a:srgbClr val="FF6F00"/>
                </a:solidFill>
              </a:defRPr>
            </a:pPr>
            <a:r>
              <a:t>★ Current Limitations: </a:t>
            </a:r>
            <a:r>
              <a:rPr b="0" sz="850">
                <a:solidFill>
                  <a:srgbClr val="232323"/>
                </a:solidFill>
              </a:rPr>
              <a:t>Dataset size is bounded to 90 historical launches; real-time ocean wave telemetry at drone ship coordinates was not available in historical logs.</a:t>
            </a:r>
          </a:p>
          <a:p>
            <a:pPr>
              <a:defRPr b="1" sz="1000">
                <a:solidFill>
                  <a:srgbClr val="FF6F00"/>
                </a:solidFill>
              </a:defRPr>
            </a:pPr>
            <a:r>
              <a:t>★ Future Enhancements: </a:t>
            </a:r>
            <a:r>
              <a:rPr b="0" sz="850">
                <a:solidFill>
                  <a:srgbClr val="232323"/>
                </a:solidFill>
              </a:rPr>
              <a:t>Integrate live NOAA marine weather telemetry (wave heights and wind speeds at drone ship GPS coordinates) and deploy deep neural networks for continuous trajectory modeling.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B3D"/>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
            <a:ext cx="10515600" cy="256032"/>
          </a:xfrm>
          <a:prstGeom prst="rect">
            <a:avLst/>
          </a:prstGeom>
          <a:noFill/>
        </p:spPr>
        <p:txBody>
          <a:bodyPr wrap="square">
            <a:spAutoFit/>
          </a:bodyPr>
          <a:lstStyle/>
          <a:p>
            <a:pPr>
              <a:defRPr sz="950" b="1">
                <a:solidFill>
                  <a:srgbClr val="FF6F00"/>
                </a:solidFill>
              </a:defRPr>
            </a:pPr>
            <a:r>
              <a:t>IBM DATA SCIENCE PROFESSIONAL CAPSTONE</a:t>
            </a:r>
          </a:p>
        </p:txBody>
      </p:sp>
      <p:sp>
        <p:nvSpPr>
          <p:cNvPr id="4" name="TextBox 3"/>
          <p:cNvSpPr txBox="1"/>
          <p:nvPr/>
        </p:nvSpPr>
        <p:spPr>
          <a:xfrm>
            <a:off x="731520" y="310896"/>
            <a:ext cx="10515600" cy="640080"/>
          </a:xfrm>
          <a:prstGeom prst="rect">
            <a:avLst/>
          </a:prstGeom>
          <a:noFill/>
        </p:spPr>
        <p:txBody>
          <a:bodyPr wrap="square">
            <a:spAutoFit/>
          </a:bodyPr>
          <a:lstStyle/>
          <a:p>
            <a:pPr>
              <a:defRPr sz="2000" b="1">
                <a:solidFill>
                  <a:srgbClr val="FFFFFF"/>
                </a:solidFill>
              </a:defRPr>
            </a:pPr>
            <a:r>
              <a:t>Project Artifacts, Repository &amp; Submission Verification</a:t>
            </a:r>
          </a:p>
        </p:txBody>
      </p:sp>
      <p:sp>
        <p:nvSpPr>
          <p:cNvPr id="5" name="Rectangle 4"/>
          <p:cNvSpPr/>
          <p:nvPr/>
        </p:nvSpPr>
        <p:spPr>
          <a:xfrm>
            <a:off x="0" y="6473952"/>
            <a:ext cx="12191695" cy="384048"/>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5486400" cy="292608"/>
          </a:xfrm>
          <a:prstGeom prst="rect">
            <a:avLst/>
          </a:prstGeom>
          <a:noFill/>
        </p:spPr>
        <p:txBody>
          <a:bodyPr wrap="none">
            <a:spAutoFit/>
          </a:bodyPr>
          <a:lstStyle/>
          <a:p>
            <a:pPr>
              <a:defRPr sz="900">
                <a:solidFill>
                  <a:srgbClr val="DCE2EB"/>
                </a:solidFill>
              </a:defRPr>
            </a:pPr>
            <a:r>
              <a:t>SpaceX Falcon 9 First Stage Landing Prediction | IBM Data Science Capstone</a:t>
            </a:r>
          </a:p>
        </p:txBody>
      </p:sp>
      <p:sp>
        <p:nvSpPr>
          <p:cNvPr id="7" name="TextBox 6"/>
          <p:cNvSpPr txBox="1"/>
          <p:nvPr/>
        </p:nvSpPr>
        <p:spPr>
          <a:xfrm>
            <a:off x="6217920" y="6510528"/>
            <a:ext cx="5303520" cy="292608"/>
          </a:xfrm>
          <a:prstGeom prst="rect">
            <a:avLst/>
          </a:prstGeom>
          <a:noFill/>
        </p:spPr>
        <p:txBody>
          <a:bodyPr wrap="none">
            <a:spAutoFit/>
          </a:bodyPr>
          <a:lstStyle/>
          <a:p>
            <a:pPr algn="r">
              <a:defRPr sz="850" b="1">
                <a:solidFill>
                  <a:srgbClr val="FF6F00"/>
                </a:solidFill>
              </a:defRPr>
            </a:pPr>
            <a:r>
              <a:t>🔗 Lab Link: https://github.com/buildwithneel/Coursera-IBM-data-science-course</a:t>
            </a:r>
          </a:p>
        </p:txBody>
      </p:sp>
      <p:sp>
        <p:nvSpPr>
          <p:cNvPr id="8" name="Rounded Rectangle 7"/>
          <p:cNvSpPr/>
          <p:nvPr/>
        </p:nvSpPr>
        <p:spPr>
          <a:xfrm>
            <a:off x="731520" y="1234440"/>
            <a:ext cx="10698480" cy="5029200"/>
          </a:xfrm>
          <a:prstGeom prst="roundRect">
            <a:avLst/>
          </a:prstGeom>
          <a:solidFill>
            <a:srgbClr val="F6F9FC"/>
          </a:solidFill>
          <a:ln w="1905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10332720" cy="4754880"/>
          </a:xfrm>
          <a:prstGeom prst="rect">
            <a:avLst/>
          </a:prstGeom>
          <a:noFill/>
        </p:spPr>
        <p:txBody>
          <a:bodyPr wrap="square">
            <a:spAutoFit/>
          </a:bodyPr>
          <a:lstStyle/>
          <a:p>
            <a:pPr>
              <a:defRPr sz="1300" b="1">
                <a:solidFill>
                  <a:srgbClr val="0B1B3D"/>
                </a:solidFill>
              </a:defRPr>
            </a:pPr>
            <a:r>
              <a:t>Verified Submission Deliverables &amp; Repository Structure</a:t>
            </a:r>
          </a:p>
          <a:p>
            <a:pPr>
              <a:defRPr b="1" sz="1000">
                <a:solidFill>
                  <a:srgbClr val="2E7D32"/>
                </a:solidFill>
              </a:defRPr>
            </a:pPr>
            <a:r>
              <a:t>✔  Official GitHub Repository: </a:t>
            </a:r>
            <a:r>
              <a:rPr b="0" sz="850">
                <a:solidFill>
                  <a:srgbClr val="232323"/>
                </a:solidFill>
              </a:rPr>
              <a:t>https://github.com/buildwithneel/Coursera-IBM-data-science-course</a:t>
            </a:r>
          </a:p>
          <a:p>
            <a:pPr>
              <a:defRPr b="1" sz="1000">
                <a:solidFill>
                  <a:srgbClr val="2E7D32"/>
                </a:solidFill>
              </a:defRPr>
            </a:pPr>
            <a:r>
              <a:t>✔  Completed Jupyter Notebooks: </a:t>
            </a:r>
            <a:r>
              <a:rPr b="0" sz="850">
                <a:solidFill>
                  <a:srgbClr val="232323"/>
                </a:solidFill>
              </a:rPr>
              <a:t>7 Notebooks in notebooks/: 01_data_collection_api.ipynb, 02_web_scraping.ipynb, 03_data_wrangling.ipynb, 04_eda_visualizations.ipynb, 05_sql_analysis.ipynb, 06_folium_launch_map.ipynb, 07_machine_learning.ipynb.</a:t>
            </a:r>
          </a:p>
          <a:p>
            <a:pPr>
              <a:defRPr b="1" sz="1000">
                <a:solidFill>
                  <a:srgbClr val="2E7D32"/>
                </a:solidFill>
              </a:defRPr>
            </a:pPr>
            <a:r>
              <a:t>✔  Python Source Modules: </a:t>
            </a:r>
            <a:r>
              <a:rPr b="0" sz="850">
                <a:solidFill>
                  <a:srgbClr val="232323"/>
                </a:solidFill>
              </a:rPr>
              <a:t>Production modules in src/: data_collection.py, data_wrangling.py, eda.py, run_sql.py, generate_map.py, train_model.py, create_presentation.py.</a:t>
            </a:r>
          </a:p>
          <a:p>
            <a:pPr>
              <a:defRPr b="1" sz="1000">
                <a:solidFill>
                  <a:srgbClr val="2E7D32"/>
                </a:solidFill>
              </a:defRPr>
            </a:pPr>
            <a:r>
              <a:t>✔  SQL Database &amp; Queries: </a:t>
            </a:r>
            <a:r>
              <a:rPr b="0" sz="850">
                <a:solidFill>
                  <a:srgbClr val="232323"/>
                </a:solidFill>
              </a:rPr>
              <a:t>data/spacex.db (SQLite database) and sql/queries.sql (12 business intelligence queries).</a:t>
            </a:r>
          </a:p>
          <a:p>
            <a:pPr>
              <a:defRPr b="1" sz="1000">
                <a:solidFill>
                  <a:srgbClr val="2E7D32"/>
                </a:solidFill>
              </a:defRPr>
            </a:pPr>
            <a:r>
              <a:t>✔  Geospatial &amp; Dashboard: </a:t>
            </a:r>
            <a:r>
              <a:rPr b="0" sz="850">
                <a:solidFill>
                  <a:srgbClr val="232323"/>
                </a:solidFill>
              </a:rPr>
              <a:t>visuals/folium/launch_sites_map.html (interactive map) and dashboard/app.py (Plotly Dash web application).</a:t>
            </a:r>
          </a:p>
          <a:p>
            <a:pPr>
              <a:defRPr b="1" sz="1000">
                <a:solidFill>
                  <a:srgbClr val="2E7D32"/>
                </a:solidFill>
              </a:defRPr>
            </a:pPr>
            <a:r>
              <a:t>✔  Final Presentation PDF: </a:t>
            </a:r>
            <a:r>
              <a:rPr b="0" sz="850">
                <a:solidFill>
                  <a:srgbClr val="232323"/>
                </a:solidFill>
              </a:rPr>
              <a:t>presentation/spacex_capstone.pdf (Exported directly as .pdf complying with IBM Capstone rubric).</a:t>
            </a:r>
          </a:p>
          <a:p>
            <a:pPr>
              <a:defRPr b="1" sz="1000">
                <a:solidFill>
                  <a:srgbClr val="2E7D32"/>
                </a:solidFill>
              </a:defRPr>
            </a:pPr>
            <a:r>
              <a:t>✔  Academic Program: </a:t>
            </a:r>
            <a:r>
              <a:rPr b="0" sz="850">
                <a:solidFill>
                  <a:srgbClr val="232323"/>
                </a:solidFill>
              </a:rPr>
              <a:t>IBM Data Science Professional Certificate | Applied Data Science Capstone Final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